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2.xml" ContentType="application/vnd.openxmlformats-officedocument.them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1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ags/tag25.xml" ContentType="application/vnd.openxmlformats-officedocument.presentationml.tags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25"/>
  </p:notesMasterIdLst>
  <p:sldIdLst>
    <p:sldId id="256" r:id="rId5"/>
    <p:sldId id="257" r:id="rId6"/>
    <p:sldId id="258" r:id="rId7"/>
    <p:sldId id="259" r:id="rId8"/>
    <p:sldId id="260" r:id="rId9"/>
    <p:sldId id="262" r:id="rId10"/>
    <p:sldId id="263" r:id="rId11"/>
    <p:sldId id="264" r:id="rId12"/>
    <p:sldId id="265" r:id="rId13"/>
    <p:sldId id="266" r:id="rId14"/>
    <p:sldId id="27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</p:sldIdLst>
  <p:sldSz cx="12192000" cy="6858000"/>
  <p:notesSz cx="6858000" cy="1857375"/>
  <p:custDataLst>
    <p:tags r:id="rId2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44" userDrawn="1">
          <p15:clr>
            <a:srgbClr val="A4A3A4"/>
          </p15:clr>
        </p15:guide>
        <p15:guide id="2" pos="28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BD3AA52-0FB4-F6D0-6D07-1A3D2D9FD3FC}" name="Marianne Seidler" initials="MS" userId="S::mariannes@skillup.tech::bb0b4178-c940-4a9a-9c5e-e97bf5d50d86" providerId="AD"/>
  <p188:author id="{F554C3DC-94B8-9F7D-83FC-6D4CEC0DE845}" name="Dawn Teel-Friedman" initials="DTF" userId="Dawn Teel-Friedman" providerId="Non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ose Malcolm" initials="RM" lastIdx="1" clrIdx="0">
    <p:extLst>
      <p:ext uri="{19B8F6BF-5375-455C-9EA6-DF929625EA0E}">
        <p15:presenceInfo xmlns:p15="http://schemas.microsoft.com/office/powerpoint/2012/main" userId="Rose Malcolm" providerId="None"/>
      </p:ext>
    </p:extLst>
  </p:cmAuthor>
  <p:cmAuthor id="2" name="Rose Malcolm" initials="RM [2]" lastIdx="7" clrIdx="1">
    <p:extLst>
      <p:ext uri="{19B8F6BF-5375-455C-9EA6-DF929625EA0E}">
        <p15:presenceInfo xmlns:p15="http://schemas.microsoft.com/office/powerpoint/2012/main" userId="17c9fa32013483c0" providerId="Windows Live"/>
      </p:ext>
    </p:extLst>
  </p:cmAuthor>
  <p:cmAuthor id="3" name="Ramesh Sannareddy" initials="RS" lastIdx="7" clrIdx="2">
    <p:extLst>
      <p:ext uri="{19B8F6BF-5375-455C-9EA6-DF929625EA0E}">
        <p15:presenceInfo xmlns:p15="http://schemas.microsoft.com/office/powerpoint/2012/main" userId="YZ5PSXVD06EfD4/04RF+4IpszM4ZmL7FtUZDJf4jPLA=" providerId="None"/>
      </p:ext>
    </p:extLst>
  </p:cmAuthor>
  <p:cmAuthor id="4" name="UPKAR LIDDER" initials="UL" lastIdx="2" clrIdx="3"/>
  <p:cmAuthor id="5" name="Beth Larsen" initials="BL" lastIdx="1" clrIdx="4">
    <p:extLst>
      <p:ext uri="{19B8F6BF-5375-455C-9EA6-DF929625EA0E}">
        <p15:presenceInfo xmlns:p15="http://schemas.microsoft.com/office/powerpoint/2012/main" userId="04edb8684ac0beb8" providerId="Windows Live"/>
      </p:ext>
    </p:extLst>
  </p:cmAuthor>
  <p:cmAuthor id="6" name="Matt Ockenfels" initials="MO" lastIdx="1" clrIdx="5">
    <p:extLst>
      <p:ext uri="{19B8F6BF-5375-455C-9EA6-DF929625EA0E}">
        <p15:presenceInfo xmlns:p15="http://schemas.microsoft.com/office/powerpoint/2012/main" userId="S::matto@skillup.tech::1f5f8b86-5465-4302-9a82-9a36d055e8b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2C3"/>
    <a:srgbClr val="007D79"/>
    <a:srgbClr val="D02670"/>
    <a:srgbClr val="231F20"/>
    <a:srgbClr val="33B1FF"/>
    <a:srgbClr val="262626"/>
    <a:srgbClr val="525252"/>
    <a:srgbClr val="BE95FF"/>
    <a:srgbClr val="FFFFFF"/>
    <a:srgbClr val="C1C7C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132" autoAdjust="0"/>
    <p:restoredTop sz="91480" autoAdjust="0"/>
  </p:normalViewPr>
  <p:slideViewPr>
    <p:cSldViewPr snapToGrid="0">
      <p:cViewPr varScale="1">
        <p:scale>
          <a:sx n="72" d="100"/>
          <a:sy n="72" d="100"/>
        </p:scale>
        <p:origin x="54" y="66"/>
      </p:cViewPr>
      <p:guideLst>
        <p:guide orient="horz" pos="744"/>
        <p:guide pos="28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gs" Target="tags/tag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commentAuthors" Target="commentAuthors.xml"/><Relationship Id="rId30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Worksheet%20in%202024-capstone-story-template%202.ppt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D:\NPower\Course%209\Assignment%20Submission\M1_WebScraping\popular-languages.csv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Job Postings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'[Worksheet in 2024-capstone-story-template 2.pptx]Sheet1'!$C$1</c:f>
              <c:strCache>
                <c:ptCount val="1"/>
                <c:pt idx="0">
                  <c:v>Los Angeles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'[Worksheet in 2024-capstone-story-template 2.pptx]Sheet1'!$B$2:$B$13</c:f>
              <c:strCache>
                <c:ptCount val="12"/>
                <c:pt idx="0">
                  <c:v>C</c:v>
                </c:pt>
                <c:pt idx="1">
                  <c:v>C#</c:v>
                </c:pt>
                <c:pt idx="2">
                  <c:v>C++</c:v>
                </c:pt>
                <c:pt idx="3">
                  <c:v>Java</c:v>
                </c:pt>
                <c:pt idx="4">
                  <c:v>JavaScript</c:v>
                </c:pt>
                <c:pt idx="5">
                  <c:v>Python</c:v>
                </c:pt>
                <c:pt idx="6">
                  <c:v>Scala</c:v>
                </c:pt>
                <c:pt idx="7">
                  <c:v>Oracle</c:v>
                </c:pt>
                <c:pt idx="8">
                  <c:v>SQL Server</c:v>
                </c:pt>
                <c:pt idx="9">
                  <c:v>MySQL Server</c:v>
                </c:pt>
                <c:pt idx="10">
                  <c:v>PostgreSQL</c:v>
                </c:pt>
                <c:pt idx="11">
                  <c:v>MongoDB</c:v>
                </c:pt>
              </c:strCache>
            </c:strRef>
          </c:cat>
          <c:val>
            <c:numRef>
              <c:f>'[Worksheet in 2024-capstone-story-template 2.pptx]Sheet1'!$C$2:$C$13</c:f>
              <c:numCache>
                <c:formatCode>General</c:formatCode>
                <c:ptCount val="12"/>
                <c:pt idx="0">
                  <c:v>3</c:v>
                </c:pt>
                <c:pt idx="1">
                  <c:v>3</c:v>
                </c:pt>
                <c:pt idx="2">
                  <c:v>3</c:v>
                </c:pt>
                <c:pt idx="3">
                  <c:v>3</c:v>
                </c:pt>
                <c:pt idx="4">
                  <c:v>3</c:v>
                </c:pt>
                <c:pt idx="5">
                  <c:v>3</c:v>
                </c:pt>
                <c:pt idx="6">
                  <c:v>3</c:v>
                </c:pt>
                <c:pt idx="7">
                  <c:v>3</c:v>
                </c:pt>
                <c:pt idx="8">
                  <c:v>3</c:v>
                </c:pt>
                <c:pt idx="9">
                  <c:v>3</c:v>
                </c:pt>
                <c:pt idx="10">
                  <c:v>3</c:v>
                </c:pt>
                <c:pt idx="1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DBA-438D-88CF-E86207F216F3}"/>
            </c:ext>
          </c:extLst>
        </c:ser>
        <c:ser>
          <c:idx val="1"/>
          <c:order val="1"/>
          <c:tx>
            <c:strRef>
              <c:f>'[Worksheet in 2024-capstone-story-template 2.pptx]Sheet1'!$D$1</c:f>
              <c:strCache>
                <c:ptCount val="1"/>
                <c:pt idx="0">
                  <c:v>New York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'[Worksheet in 2024-capstone-story-template 2.pptx]Sheet1'!$B$2:$B$13</c:f>
              <c:strCache>
                <c:ptCount val="12"/>
                <c:pt idx="0">
                  <c:v>C</c:v>
                </c:pt>
                <c:pt idx="1">
                  <c:v>C#</c:v>
                </c:pt>
                <c:pt idx="2">
                  <c:v>C++</c:v>
                </c:pt>
                <c:pt idx="3">
                  <c:v>Java</c:v>
                </c:pt>
                <c:pt idx="4">
                  <c:v>JavaScript</c:v>
                </c:pt>
                <c:pt idx="5">
                  <c:v>Python</c:v>
                </c:pt>
                <c:pt idx="6">
                  <c:v>Scala</c:v>
                </c:pt>
                <c:pt idx="7">
                  <c:v>Oracle</c:v>
                </c:pt>
                <c:pt idx="8">
                  <c:v>SQL Server</c:v>
                </c:pt>
                <c:pt idx="9">
                  <c:v>MySQL Server</c:v>
                </c:pt>
                <c:pt idx="10">
                  <c:v>PostgreSQL</c:v>
                </c:pt>
                <c:pt idx="11">
                  <c:v>MongoDB</c:v>
                </c:pt>
              </c:strCache>
            </c:strRef>
          </c:cat>
          <c:val>
            <c:numRef>
              <c:f>'[Worksheet in 2024-capstone-story-template 2.pptx]Sheet1'!$D$2:$D$13</c:f>
              <c:numCache>
                <c:formatCode>General</c:formatCode>
                <c:ptCount val="12"/>
                <c:pt idx="0">
                  <c:v>3</c:v>
                </c:pt>
                <c:pt idx="1">
                  <c:v>3</c:v>
                </c:pt>
                <c:pt idx="2">
                  <c:v>3</c:v>
                </c:pt>
                <c:pt idx="3">
                  <c:v>3</c:v>
                </c:pt>
                <c:pt idx="4">
                  <c:v>3</c:v>
                </c:pt>
                <c:pt idx="5">
                  <c:v>3</c:v>
                </c:pt>
                <c:pt idx="6">
                  <c:v>3</c:v>
                </c:pt>
                <c:pt idx="7">
                  <c:v>3</c:v>
                </c:pt>
                <c:pt idx="8">
                  <c:v>3</c:v>
                </c:pt>
                <c:pt idx="9">
                  <c:v>3</c:v>
                </c:pt>
                <c:pt idx="10">
                  <c:v>3</c:v>
                </c:pt>
                <c:pt idx="1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DBA-438D-88CF-E86207F216F3}"/>
            </c:ext>
          </c:extLst>
        </c:ser>
        <c:ser>
          <c:idx val="2"/>
          <c:order val="2"/>
          <c:tx>
            <c:strRef>
              <c:f>'[Worksheet in 2024-capstone-story-template 2.pptx]Sheet1'!$E$1</c:f>
              <c:strCache>
                <c:ptCount val="1"/>
                <c:pt idx="0">
                  <c:v>San Francisco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'[Worksheet in 2024-capstone-story-template 2.pptx]Sheet1'!$B$2:$B$13</c:f>
              <c:strCache>
                <c:ptCount val="12"/>
                <c:pt idx="0">
                  <c:v>C</c:v>
                </c:pt>
                <c:pt idx="1">
                  <c:v>C#</c:v>
                </c:pt>
                <c:pt idx="2">
                  <c:v>C++</c:v>
                </c:pt>
                <c:pt idx="3">
                  <c:v>Java</c:v>
                </c:pt>
                <c:pt idx="4">
                  <c:v>JavaScript</c:v>
                </c:pt>
                <c:pt idx="5">
                  <c:v>Python</c:v>
                </c:pt>
                <c:pt idx="6">
                  <c:v>Scala</c:v>
                </c:pt>
                <c:pt idx="7">
                  <c:v>Oracle</c:v>
                </c:pt>
                <c:pt idx="8">
                  <c:v>SQL Server</c:v>
                </c:pt>
                <c:pt idx="9">
                  <c:v>MySQL Server</c:v>
                </c:pt>
                <c:pt idx="10">
                  <c:v>PostgreSQL</c:v>
                </c:pt>
                <c:pt idx="11">
                  <c:v>MongoDB</c:v>
                </c:pt>
              </c:strCache>
            </c:strRef>
          </c:cat>
          <c:val>
            <c:numRef>
              <c:f>'[Worksheet in 2024-capstone-story-template 2.pptx]Sheet1'!$E$2:$E$13</c:f>
              <c:numCache>
                <c:formatCode>General</c:formatCode>
                <c:ptCount val="12"/>
                <c:pt idx="0">
                  <c:v>3</c:v>
                </c:pt>
                <c:pt idx="1">
                  <c:v>3</c:v>
                </c:pt>
                <c:pt idx="2">
                  <c:v>3</c:v>
                </c:pt>
                <c:pt idx="3">
                  <c:v>3</c:v>
                </c:pt>
                <c:pt idx="4">
                  <c:v>3</c:v>
                </c:pt>
                <c:pt idx="5">
                  <c:v>3</c:v>
                </c:pt>
                <c:pt idx="6">
                  <c:v>3</c:v>
                </c:pt>
                <c:pt idx="7">
                  <c:v>3</c:v>
                </c:pt>
                <c:pt idx="8">
                  <c:v>3</c:v>
                </c:pt>
                <c:pt idx="9">
                  <c:v>3</c:v>
                </c:pt>
                <c:pt idx="10">
                  <c:v>3</c:v>
                </c:pt>
                <c:pt idx="1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DBA-438D-88CF-E86207F216F3}"/>
            </c:ext>
          </c:extLst>
        </c:ser>
        <c:ser>
          <c:idx val="3"/>
          <c:order val="3"/>
          <c:tx>
            <c:strRef>
              <c:f>'[Worksheet in 2024-capstone-story-template 2.pptx]Sheet1'!$F$1</c:f>
              <c:strCache>
                <c:ptCount val="1"/>
                <c:pt idx="0">
                  <c:v>Washington DC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'[Worksheet in 2024-capstone-story-template 2.pptx]Sheet1'!$B$2:$B$13</c:f>
              <c:strCache>
                <c:ptCount val="12"/>
                <c:pt idx="0">
                  <c:v>C</c:v>
                </c:pt>
                <c:pt idx="1">
                  <c:v>C#</c:v>
                </c:pt>
                <c:pt idx="2">
                  <c:v>C++</c:v>
                </c:pt>
                <c:pt idx="3">
                  <c:v>Java</c:v>
                </c:pt>
                <c:pt idx="4">
                  <c:v>JavaScript</c:v>
                </c:pt>
                <c:pt idx="5">
                  <c:v>Python</c:v>
                </c:pt>
                <c:pt idx="6">
                  <c:v>Scala</c:v>
                </c:pt>
                <c:pt idx="7">
                  <c:v>Oracle</c:v>
                </c:pt>
                <c:pt idx="8">
                  <c:v>SQL Server</c:v>
                </c:pt>
                <c:pt idx="9">
                  <c:v>MySQL Server</c:v>
                </c:pt>
                <c:pt idx="10">
                  <c:v>PostgreSQL</c:v>
                </c:pt>
                <c:pt idx="11">
                  <c:v>MongoDB</c:v>
                </c:pt>
              </c:strCache>
            </c:strRef>
          </c:cat>
          <c:val>
            <c:numRef>
              <c:f>'[Worksheet in 2024-capstone-story-template 2.pptx]Sheet1'!$F$2:$F$13</c:f>
              <c:numCache>
                <c:formatCode>General</c:formatCode>
                <c:ptCount val="12"/>
                <c:pt idx="0">
                  <c:v>3</c:v>
                </c:pt>
                <c:pt idx="1">
                  <c:v>3</c:v>
                </c:pt>
                <c:pt idx="2">
                  <c:v>3</c:v>
                </c:pt>
                <c:pt idx="3">
                  <c:v>3</c:v>
                </c:pt>
                <c:pt idx="4">
                  <c:v>3</c:v>
                </c:pt>
                <c:pt idx="5">
                  <c:v>3</c:v>
                </c:pt>
                <c:pt idx="6">
                  <c:v>3</c:v>
                </c:pt>
                <c:pt idx="7">
                  <c:v>3</c:v>
                </c:pt>
                <c:pt idx="8">
                  <c:v>3</c:v>
                </c:pt>
                <c:pt idx="9">
                  <c:v>3</c:v>
                </c:pt>
                <c:pt idx="10">
                  <c:v>3</c:v>
                </c:pt>
                <c:pt idx="1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BDBA-438D-88CF-E86207F216F3}"/>
            </c:ext>
          </c:extLst>
        </c:ser>
        <c:ser>
          <c:idx val="4"/>
          <c:order val="4"/>
          <c:tx>
            <c:strRef>
              <c:f>'[Worksheet in 2024-capstone-story-template 2.pptx]Sheet1'!$G$1</c:f>
              <c:strCache>
                <c:ptCount val="1"/>
                <c:pt idx="0">
                  <c:v>Seattle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'[Worksheet in 2024-capstone-story-template 2.pptx]Sheet1'!$B$2:$B$13</c:f>
              <c:strCache>
                <c:ptCount val="12"/>
                <c:pt idx="0">
                  <c:v>C</c:v>
                </c:pt>
                <c:pt idx="1">
                  <c:v>C#</c:v>
                </c:pt>
                <c:pt idx="2">
                  <c:v>C++</c:v>
                </c:pt>
                <c:pt idx="3">
                  <c:v>Java</c:v>
                </c:pt>
                <c:pt idx="4">
                  <c:v>JavaScript</c:v>
                </c:pt>
                <c:pt idx="5">
                  <c:v>Python</c:v>
                </c:pt>
                <c:pt idx="6">
                  <c:v>Scala</c:v>
                </c:pt>
                <c:pt idx="7">
                  <c:v>Oracle</c:v>
                </c:pt>
                <c:pt idx="8">
                  <c:v>SQL Server</c:v>
                </c:pt>
                <c:pt idx="9">
                  <c:v>MySQL Server</c:v>
                </c:pt>
                <c:pt idx="10">
                  <c:v>PostgreSQL</c:v>
                </c:pt>
                <c:pt idx="11">
                  <c:v>MongoDB</c:v>
                </c:pt>
              </c:strCache>
            </c:strRef>
          </c:cat>
          <c:val>
            <c:numRef>
              <c:f>'[Worksheet in 2024-capstone-story-template 2.pptx]Sheet1'!$G$2:$G$13</c:f>
              <c:numCache>
                <c:formatCode>General</c:formatCode>
                <c:ptCount val="12"/>
                <c:pt idx="0">
                  <c:v>3</c:v>
                </c:pt>
                <c:pt idx="1">
                  <c:v>3</c:v>
                </c:pt>
                <c:pt idx="2">
                  <c:v>3</c:v>
                </c:pt>
                <c:pt idx="3">
                  <c:v>3</c:v>
                </c:pt>
                <c:pt idx="4">
                  <c:v>3</c:v>
                </c:pt>
                <c:pt idx="5">
                  <c:v>3</c:v>
                </c:pt>
                <c:pt idx="6">
                  <c:v>3</c:v>
                </c:pt>
                <c:pt idx="7">
                  <c:v>3</c:v>
                </c:pt>
                <c:pt idx="8">
                  <c:v>3</c:v>
                </c:pt>
                <c:pt idx="9">
                  <c:v>3</c:v>
                </c:pt>
                <c:pt idx="10">
                  <c:v>3</c:v>
                </c:pt>
                <c:pt idx="1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DBA-438D-88CF-E86207F216F3}"/>
            </c:ext>
          </c:extLst>
        </c:ser>
        <c:ser>
          <c:idx val="5"/>
          <c:order val="5"/>
          <c:tx>
            <c:strRef>
              <c:f>'[Worksheet in 2024-capstone-story-template 2.pptx]Sheet1'!$H$1</c:f>
              <c:strCache>
                <c:ptCount val="1"/>
                <c:pt idx="0">
                  <c:v>Austin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strRef>
              <c:f>'[Worksheet in 2024-capstone-story-template 2.pptx]Sheet1'!$B$2:$B$13</c:f>
              <c:strCache>
                <c:ptCount val="12"/>
                <c:pt idx="0">
                  <c:v>C</c:v>
                </c:pt>
                <c:pt idx="1">
                  <c:v>C#</c:v>
                </c:pt>
                <c:pt idx="2">
                  <c:v>C++</c:v>
                </c:pt>
                <c:pt idx="3">
                  <c:v>Java</c:v>
                </c:pt>
                <c:pt idx="4">
                  <c:v>JavaScript</c:v>
                </c:pt>
                <c:pt idx="5">
                  <c:v>Python</c:v>
                </c:pt>
                <c:pt idx="6">
                  <c:v>Scala</c:v>
                </c:pt>
                <c:pt idx="7">
                  <c:v>Oracle</c:v>
                </c:pt>
                <c:pt idx="8">
                  <c:v>SQL Server</c:v>
                </c:pt>
                <c:pt idx="9">
                  <c:v>MySQL Server</c:v>
                </c:pt>
                <c:pt idx="10">
                  <c:v>PostgreSQL</c:v>
                </c:pt>
                <c:pt idx="11">
                  <c:v>MongoDB</c:v>
                </c:pt>
              </c:strCache>
            </c:strRef>
          </c:cat>
          <c:val>
            <c:numRef>
              <c:f>'[Worksheet in 2024-capstone-story-template 2.pptx]Sheet1'!$H$2:$H$13</c:f>
              <c:numCache>
                <c:formatCode>General</c:formatCode>
                <c:ptCount val="12"/>
                <c:pt idx="0">
                  <c:v>3</c:v>
                </c:pt>
                <c:pt idx="1">
                  <c:v>3</c:v>
                </c:pt>
                <c:pt idx="2">
                  <c:v>3</c:v>
                </c:pt>
                <c:pt idx="3">
                  <c:v>3</c:v>
                </c:pt>
                <c:pt idx="4">
                  <c:v>3</c:v>
                </c:pt>
                <c:pt idx="5">
                  <c:v>3</c:v>
                </c:pt>
                <c:pt idx="6">
                  <c:v>3</c:v>
                </c:pt>
                <c:pt idx="7">
                  <c:v>3</c:v>
                </c:pt>
                <c:pt idx="8">
                  <c:v>3</c:v>
                </c:pt>
                <c:pt idx="9">
                  <c:v>3</c:v>
                </c:pt>
                <c:pt idx="10">
                  <c:v>3</c:v>
                </c:pt>
                <c:pt idx="1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BDBA-438D-88CF-E86207F216F3}"/>
            </c:ext>
          </c:extLst>
        </c:ser>
        <c:ser>
          <c:idx val="6"/>
          <c:order val="6"/>
          <c:tx>
            <c:strRef>
              <c:f>'[Worksheet in 2024-capstone-story-template 2.pptx]Sheet1'!$I$1</c:f>
              <c:strCache>
                <c:ptCount val="1"/>
                <c:pt idx="0">
                  <c:v>Detroit</c:v>
                </c:pt>
              </c:strCache>
            </c:strRef>
          </c:tx>
          <c:spPr>
            <a:solidFill>
              <a:schemeClr val="accent1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'[Worksheet in 2024-capstone-story-template 2.pptx]Sheet1'!$B$2:$B$13</c:f>
              <c:strCache>
                <c:ptCount val="12"/>
                <c:pt idx="0">
                  <c:v>C</c:v>
                </c:pt>
                <c:pt idx="1">
                  <c:v>C#</c:v>
                </c:pt>
                <c:pt idx="2">
                  <c:v>C++</c:v>
                </c:pt>
                <c:pt idx="3">
                  <c:v>Java</c:v>
                </c:pt>
                <c:pt idx="4">
                  <c:v>JavaScript</c:v>
                </c:pt>
                <c:pt idx="5">
                  <c:v>Python</c:v>
                </c:pt>
                <c:pt idx="6">
                  <c:v>Scala</c:v>
                </c:pt>
                <c:pt idx="7">
                  <c:v>Oracle</c:v>
                </c:pt>
                <c:pt idx="8">
                  <c:v>SQL Server</c:v>
                </c:pt>
                <c:pt idx="9">
                  <c:v>MySQL Server</c:v>
                </c:pt>
                <c:pt idx="10">
                  <c:v>PostgreSQL</c:v>
                </c:pt>
                <c:pt idx="11">
                  <c:v>MongoDB</c:v>
                </c:pt>
              </c:strCache>
            </c:strRef>
          </c:cat>
          <c:val>
            <c:numRef>
              <c:f>'[Worksheet in 2024-capstone-story-template 2.pptx]Sheet1'!$I$2:$I$13</c:f>
              <c:numCache>
                <c:formatCode>General</c:formatCode>
                <c:ptCount val="12"/>
                <c:pt idx="0">
                  <c:v>3</c:v>
                </c:pt>
                <c:pt idx="1">
                  <c:v>3</c:v>
                </c:pt>
                <c:pt idx="2">
                  <c:v>3</c:v>
                </c:pt>
                <c:pt idx="3">
                  <c:v>3</c:v>
                </c:pt>
                <c:pt idx="4">
                  <c:v>3</c:v>
                </c:pt>
                <c:pt idx="5">
                  <c:v>3</c:v>
                </c:pt>
                <c:pt idx="6">
                  <c:v>3</c:v>
                </c:pt>
                <c:pt idx="7">
                  <c:v>3</c:v>
                </c:pt>
                <c:pt idx="8">
                  <c:v>3</c:v>
                </c:pt>
                <c:pt idx="9">
                  <c:v>3</c:v>
                </c:pt>
                <c:pt idx="10">
                  <c:v>3</c:v>
                </c:pt>
                <c:pt idx="1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BDBA-438D-88CF-E86207F216F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075881007"/>
        <c:axId val="1075893967"/>
      </c:barChart>
      <c:catAx>
        <c:axId val="1075881007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75893967"/>
        <c:crosses val="autoZero"/>
        <c:auto val="1"/>
        <c:lblAlgn val="ctr"/>
        <c:lblOffset val="100"/>
        <c:noMultiLvlLbl val="0"/>
      </c:catAx>
      <c:valAx>
        <c:axId val="1075893967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7588100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'popular-languages'!$B$1</c:f>
              <c:strCache>
                <c:ptCount val="1"/>
                <c:pt idx="0">
                  <c:v>Average Annual Salary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'popular-languages'!$A$2:$A$11</c:f>
              <c:strCache>
                <c:ptCount val="10"/>
                <c:pt idx="0">
                  <c:v>Swift</c:v>
                </c:pt>
                <c:pt idx="1">
                  <c:v>Python</c:v>
                </c:pt>
                <c:pt idx="2">
                  <c:v>C++</c:v>
                </c:pt>
                <c:pt idx="3">
                  <c:v>Javascript</c:v>
                </c:pt>
                <c:pt idx="4">
                  <c:v>Java</c:v>
                </c:pt>
                <c:pt idx="5">
                  <c:v>Go</c:v>
                </c:pt>
                <c:pt idx="6">
                  <c:v>R</c:v>
                </c:pt>
                <c:pt idx="7">
                  <c:v>C#</c:v>
                </c:pt>
                <c:pt idx="8">
                  <c:v>SQL</c:v>
                </c:pt>
                <c:pt idx="9">
                  <c:v>PHP</c:v>
                </c:pt>
              </c:strCache>
            </c:strRef>
          </c:cat>
          <c:val>
            <c:numRef>
              <c:f>'popular-languages'!$B$2:$B$11</c:f>
              <c:numCache>
                <c:formatCode>#,##0</c:formatCode>
                <c:ptCount val="10"/>
                <c:pt idx="0">
                  <c:v>130801</c:v>
                </c:pt>
                <c:pt idx="1">
                  <c:v>114383</c:v>
                </c:pt>
                <c:pt idx="2">
                  <c:v>113865</c:v>
                </c:pt>
                <c:pt idx="3">
                  <c:v>110981</c:v>
                </c:pt>
                <c:pt idx="4">
                  <c:v>101013</c:v>
                </c:pt>
                <c:pt idx="5">
                  <c:v>94082</c:v>
                </c:pt>
                <c:pt idx="6">
                  <c:v>92037</c:v>
                </c:pt>
                <c:pt idx="7">
                  <c:v>88726</c:v>
                </c:pt>
                <c:pt idx="8">
                  <c:v>84793</c:v>
                </c:pt>
                <c:pt idx="9">
                  <c:v>84727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AC1-45EC-9CF1-A87FEEF12ED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076010127"/>
        <c:axId val="1076007247"/>
      </c:barChart>
      <c:catAx>
        <c:axId val="1076010127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76007247"/>
        <c:crosses val="autoZero"/>
        <c:auto val="1"/>
        <c:lblAlgn val="ctr"/>
        <c:lblOffset val="100"/>
        <c:noMultiLvlLbl val="0"/>
      </c:catAx>
      <c:valAx>
        <c:axId val="1076007247"/>
        <c:scaling>
          <c:orientation val="minMax"/>
        </c:scaling>
        <c:delete val="0"/>
        <c:axPos val="t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7601012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88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89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0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1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0,'6'0,"-4"6,-2 2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2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3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4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5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6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497948-54D2-43F8-9A63-A99FE3051738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r>
              <a:rPr lang="en-US"/>
              <a:t> </a:t>
            </a:r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BDA0E2-FEBD-4B65-8F16-724CF984F3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222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BDA0E2-FEBD-4B65-8F16-724CF984F37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0546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3873" y="1168401"/>
            <a:ext cx="10964254" cy="2387600"/>
          </a:xfrm>
          <a:solidFill>
            <a:schemeClr val="bg2"/>
          </a:solidFill>
        </p:spPr>
        <p:txBody>
          <a:bodyPr anchor="b">
            <a:normAutofit/>
          </a:bodyPr>
          <a:lstStyle>
            <a:lvl1pPr algn="ctr">
              <a:defRPr sz="4800" b="0" i="0">
                <a:solidFill>
                  <a:srgbClr val="525252"/>
                </a:solidFill>
                <a:latin typeface="IBM Plex Sans SemiBold" panose="020B0503050203000203" pitchFamily="34" charset="0"/>
                <a:ea typeface="IBM Plex Sans SemiBold" panose="020B0503050203000203" pitchFamily="34" charset="0"/>
                <a:cs typeface="IBM Plex Sans SemiBold" panose="020B050305020300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8273" y="3731247"/>
            <a:ext cx="9135454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 b="0" i="0">
                <a:solidFill>
                  <a:srgbClr val="525252"/>
                </a:solidFill>
                <a:latin typeface="IBM Plex Sans" panose="020B050305020300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2880360" y="3649111"/>
            <a:ext cx="6431280" cy="0"/>
          </a:xfrm>
          <a:prstGeom prst="line">
            <a:avLst/>
          </a:prstGeom>
          <a:ln>
            <a:solidFill>
              <a:srgbClr val="6C4D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>
            <a:spLocks noChangeArrowheads="1"/>
          </p:cNvSpPr>
          <p:nvPr/>
        </p:nvSpPr>
        <p:spPr bwMode="black">
          <a:xfrm>
            <a:off x="4093580" y="5537419"/>
            <a:ext cx="4004840" cy="3043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sz="1400" b="0">
                <a:solidFill>
                  <a:srgbClr val="000000"/>
                </a:solidFill>
                <a:latin typeface="Helv"/>
              </a:rPr>
              <a:t>© IBM Corporation. All rights reserved.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B5BAB42-A6B6-D2DB-EC91-721CA287B900}"/>
              </a:ext>
            </a:extLst>
          </p:cNvPr>
          <p:cNvGrpSpPr/>
          <p:nvPr userDrawn="1"/>
        </p:nvGrpSpPr>
        <p:grpSpPr>
          <a:xfrm>
            <a:off x="11094856" y="6244940"/>
            <a:ext cx="1098532" cy="613059"/>
            <a:chOff x="8965342" y="4231217"/>
            <a:chExt cx="1608171" cy="897474"/>
          </a:xfrm>
        </p:grpSpPr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D9DAF80D-4D83-4EA4-3B9A-B4DEAA21CF4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321121" y="4418033"/>
              <a:ext cx="897474" cy="355817"/>
            </a:xfrm>
            <a:prstGeom prst="rect">
              <a:avLst/>
            </a:prstGeom>
          </p:spPr>
        </p:pic>
        <p:pic>
          <p:nvPicPr>
            <p:cNvPr id="11" name="Graphic 10" hidden="1">
              <a:extLst>
                <a:ext uri="{FF2B5EF4-FFF2-40B4-BE49-F238E27FC236}">
                  <a16:creationId xmlns:a16="http://schemas.microsoft.com/office/drawing/2014/main" id="{AA1B3EED-0A38-9B4D-C031-B7CFB1F16CD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9321121" y="4772874"/>
              <a:ext cx="897474" cy="355817"/>
            </a:xfrm>
            <a:prstGeom prst="rect">
              <a:avLst/>
            </a:prstGeom>
          </p:spPr>
        </p:pic>
        <p:pic>
          <p:nvPicPr>
            <p:cNvPr id="12" name="Graphic 11" hidden="1">
              <a:extLst>
                <a:ext uri="{FF2B5EF4-FFF2-40B4-BE49-F238E27FC236}">
                  <a16:creationId xmlns:a16="http://schemas.microsoft.com/office/drawing/2014/main" id="{D8BA40FF-052F-CEA2-8570-24062BFE0A7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6200000">
              <a:off x="9946868" y="4502045"/>
              <a:ext cx="897474" cy="355817"/>
            </a:xfrm>
            <a:prstGeom prst="rect">
              <a:avLst/>
            </a:prstGeom>
          </p:spPr>
        </p:pic>
        <p:pic>
          <p:nvPicPr>
            <p:cNvPr id="13" name="Graphic 12" hidden="1">
              <a:extLst>
                <a:ext uri="{FF2B5EF4-FFF2-40B4-BE49-F238E27FC236}">
                  <a16:creationId xmlns:a16="http://schemas.microsoft.com/office/drawing/2014/main" id="{10305589-4F05-9658-71A7-2F6E7BFE952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6200000">
              <a:off x="8694514" y="4502045"/>
              <a:ext cx="897474" cy="355817"/>
            </a:xfrm>
            <a:prstGeom prst="rect">
              <a:avLst/>
            </a:prstGeom>
          </p:spPr>
        </p:pic>
      </p:grpSp>
      <p:pic>
        <p:nvPicPr>
          <p:cNvPr id="14" name="Graphic 13">
            <a:extLst>
              <a:ext uri="{FF2B5EF4-FFF2-40B4-BE49-F238E27FC236}">
                <a16:creationId xmlns:a16="http://schemas.microsoft.com/office/drawing/2014/main" id="{EEFE9B80-1CD0-9614-4D99-C0FA5B74A8B1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41053" y="6372101"/>
            <a:ext cx="1630680" cy="24765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7361523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52525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00199"/>
            <a:ext cx="10744200" cy="4572000"/>
          </a:xfrm>
        </p:spPr>
        <p:txBody>
          <a:bodyPr/>
          <a:lstStyle>
            <a:lvl1pPr>
              <a:defRPr>
                <a:solidFill>
                  <a:srgbClr val="262626"/>
                </a:solidFill>
              </a:defRPr>
            </a:lvl1pPr>
            <a:lvl2pPr>
              <a:defRPr>
                <a:solidFill>
                  <a:srgbClr val="262626"/>
                </a:solidFill>
              </a:defRPr>
            </a:lvl2pPr>
            <a:lvl3pPr>
              <a:defRPr>
                <a:solidFill>
                  <a:srgbClr val="262626"/>
                </a:solidFill>
              </a:defRPr>
            </a:lvl3pPr>
            <a:lvl4pPr>
              <a:defRPr>
                <a:solidFill>
                  <a:srgbClr val="262626"/>
                </a:solidFill>
              </a:defRPr>
            </a:lvl4pPr>
            <a:lvl5pPr>
              <a:defRPr>
                <a:solidFill>
                  <a:srgbClr val="262626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838200" y="1296645"/>
            <a:ext cx="10515600" cy="368"/>
          </a:xfrm>
          <a:prstGeom prst="line">
            <a:avLst/>
          </a:prstGeom>
          <a:ln>
            <a:solidFill>
              <a:srgbClr val="6C4D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497029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 i="0">
                <a:solidFill>
                  <a:srgbClr val="525252"/>
                </a:solidFill>
                <a:latin typeface="IBM Plex Sans SemiBold" panose="020B050305020300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00200"/>
            <a:ext cx="5181600" cy="4572000"/>
          </a:xfrm>
        </p:spPr>
        <p:txBody>
          <a:bodyPr/>
          <a:lstStyle>
            <a:lvl1pPr>
              <a:defRPr>
                <a:solidFill>
                  <a:srgbClr val="262626"/>
                </a:solidFill>
              </a:defRPr>
            </a:lvl1pPr>
            <a:lvl2pPr>
              <a:defRPr>
                <a:solidFill>
                  <a:srgbClr val="262626"/>
                </a:solidFill>
              </a:defRPr>
            </a:lvl2pPr>
            <a:lvl3pPr>
              <a:defRPr>
                <a:solidFill>
                  <a:srgbClr val="262626"/>
                </a:solidFill>
              </a:defRPr>
            </a:lvl3pPr>
            <a:lvl4pPr>
              <a:defRPr>
                <a:solidFill>
                  <a:srgbClr val="525252"/>
                </a:solidFill>
              </a:defRPr>
            </a:lvl4pPr>
            <a:lvl5pPr>
              <a:defRPr>
                <a:solidFill>
                  <a:srgbClr val="52525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5181600" cy="4572000"/>
          </a:xfrm>
        </p:spPr>
        <p:txBody>
          <a:bodyPr/>
          <a:lstStyle>
            <a:lvl1pPr>
              <a:defRPr>
                <a:solidFill>
                  <a:srgbClr val="262626"/>
                </a:solidFill>
              </a:defRPr>
            </a:lvl1pPr>
            <a:lvl2pPr>
              <a:defRPr>
                <a:solidFill>
                  <a:srgbClr val="262626"/>
                </a:solidFill>
              </a:defRPr>
            </a:lvl2pPr>
            <a:lvl3pPr>
              <a:defRPr>
                <a:solidFill>
                  <a:srgbClr val="262626"/>
                </a:solidFill>
              </a:defRPr>
            </a:lvl3pPr>
            <a:lvl4pPr>
              <a:defRPr>
                <a:solidFill>
                  <a:srgbClr val="525252"/>
                </a:solidFill>
              </a:defRPr>
            </a:lvl4pPr>
            <a:lvl5pPr>
              <a:defRPr>
                <a:solidFill>
                  <a:srgbClr val="52525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838200" y="1364249"/>
            <a:ext cx="10515600" cy="368"/>
          </a:xfrm>
          <a:prstGeom prst="line">
            <a:avLst/>
          </a:prstGeom>
          <a:ln>
            <a:solidFill>
              <a:srgbClr val="6C4D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28713435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7934645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4800" b="1" i="0">
                <a:solidFill>
                  <a:srgbClr val="525252"/>
                </a:solidFill>
                <a:latin typeface="IBM Plex Sans SemiBold" panose="020B0503050203000203" pitchFamily="34" charset="0"/>
                <a:ea typeface="IBM Plex Sans SemiBold" panose="020B0503050203000203" pitchFamily="34" charset="0"/>
                <a:cs typeface="IBM Plex Sans SemiBold" panose="020B050305020300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732707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72469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2.xml"/><Relationship Id="rId13" Type="http://schemas.openxmlformats.org/officeDocument/2006/relationships/image" Target="../media/image4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12" Type="http://schemas.openxmlformats.org/officeDocument/2006/relationships/image" Target="../media/image3.sv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7.sv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6.png"/><Relationship Id="rId10" Type="http://schemas.microsoft.com/office/2007/relationships/hdphoto" Target="../media/hdphoto1.wdp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Relationship Id="rId14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47850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pic>
        <p:nvPicPr>
          <p:cNvPr id="12" name="Picture 11" descr="Text, logo&#10;&#10;Description automatically generated">
            <a:extLst>
              <a:ext uri="{FF2B5EF4-FFF2-40B4-BE49-F238E27FC236}">
                <a16:creationId xmlns:a16="http://schemas.microsoft.com/office/drawing/2014/main" id="{05161552-D656-B925-AB2F-4CA5F6FE727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>
            <a:alphaModFix amt="5000"/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saturation sat="155000"/>
                    </a14:imgEffect>
                    <a14:imgEffect>
                      <a14:brightnessContrast contrast="-77000"/>
                    </a14:imgEffect>
                  </a14:imgLayer>
                </a14:imgProps>
              </a:ext>
            </a:extLst>
          </a:blip>
          <a:srcRect l="-1923" r="70315"/>
          <a:stretch/>
        </p:blipFill>
        <p:spPr>
          <a:xfrm>
            <a:off x="3345127" y="1418811"/>
            <a:ext cx="5501746" cy="482613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E377BDD-6725-68B2-639C-E47C9B4601F2}"/>
              </a:ext>
            </a:extLst>
          </p:cNvPr>
          <p:cNvSpPr/>
          <p:nvPr userDrawn="1"/>
        </p:nvSpPr>
        <p:spPr>
          <a:xfrm>
            <a:off x="12625444" y="2728308"/>
            <a:ext cx="1235879" cy="1235878"/>
          </a:xfrm>
          <a:prstGeom prst="rect">
            <a:avLst/>
          </a:prstGeom>
          <a:solidFill>
            <a:srgbClr val="BE95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#BE95FF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8771CE0-19C9-5FCF-1B71-ACF36DEE6664}"/>
              </a:ext>
            </a:extLst>
          </p:cNvPr>
          <p:cNvSpPr/>
          <p:nvPr userDrawn="1"/>
        </p:nvSpPr>
        <p:spPr>
          <a:xfrm>
            <a:off x="18071881" y="2728308"/>
            <a:ext cx="1235879" cy="1235878"/>
          </a:xfrm>
          <a:prstGeom prst="rect">
            <a:avLst/>
          </a:prstGeom>
          <a:solidFill>
            <a:srgbClr val="33B1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#33B1FF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32A3F44-3AAC-9557-E214-F323108F6B65}"/>
              </a:ext>
            </a:extLst>
          </p:cNvPr>
          <p:cNvSpPr/>
          <p:nvPr userDrawn="1"/>
        </p:nvSpPr>
        <p:spPr>
          <a:xfrm>
            <a:off x="14440923" y="2728308"/>
            <a:ext cx="1235879" cy="1235878"/>
          </a:xfrm>
          <a:prstGeom prst="rect">
            <a:avLst/>
          </a:prstGeom>
          <a:solidFill>
            <a:srgbClr val="FF7EB6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#FF7EB6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6EA0613-E945-E437-C733-F9F008F63B76}"/>
              </a:ext>
            </a:extLst>
          </p:cNvPr>
          <p:cNvSpPr/>
          <p:nvPr userDrawn="1"/>
        </p:nvSpPr>
        <p:spPr>
          <a:xfrm>
            <a:off x="16256402" y="2728308"/>
            <a:ext cx="1235879" cy="1235878"/>
          </a:xfrm>
          <a:prstGeom prst="rect">
            <a:avLst/>
          </a:prstGeom>
          <a:solidFill>
            <a:srgbClr val="08BDBA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#08BDBA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0EC5687-C25A-A73E-5192-674F560F89FA}"/>
              </a:ext>
            </a:extLst>
          </p:cNvPr>
          <p:cNvSpPr txBox="1"/>
          <p:nvPr userDrawn="1"/>
        </p:nvSpPr>
        <p:spPr>
          <a:xfrm>
            <a:off x="12602453" y="3912427"/>
            <a:ext cx="12378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0" dirty="0">
                <a:solidFill>
                  <a:srgbClr val="FFFFFF"/>
                </a:solidFill>
                <a:effectLst/>
              </a:rPr>
              <a:t>Purple 40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31F4021-33FE-506B-3C0D-688FEF669647}"/>
              </a:ext>
            </a:extLst>
          </p:cNvPr>
          <p:cNvSpPr txBox="1"/>
          <p:nvPr userDrawn="1"/>
        </p:nvSpPr>
        <p:spPr>
          <a:xfrm>
            <a:off x="14334144" y="3912427"/>
            <a:ext cx="14494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Magenta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40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86B112C-C780-5B47-83AA-D580E668C866}"/>
              </a:ext>
            </a:extLst>
          </p:cNvPr>
          <p:cNvSpPr txBox="1"/>
          <p:nvPr userDrawn="1"/>
        </p:nvSpPr>
        <p:spPr>
          <a:xfrm>
            <a:off x="16404771" y="3912427"/>
            <a:ext cx="966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Teal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40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92FC597-9201-21C6-383D-67750826F14D}"/>
              </a:ext>
            </a:extLst>
          </p:cNvPr>
          <p:cNvSpPr txBox="1"/>
          <p:nvPr userDrawn="1"/>
        </p:nvSpPr>
        <p:spPr>
          <a:xfrm>
            <a:off x="18206642" y="3912427"/>
            <a:ext cx="10550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Cyan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40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B4A6D56-917B-72D3-81F7-A59A36FC4198}"/>
              </a:ext>
            </a:extLst>
          </p:cNvPr>
          <p:cNvSpPr/>
          <p:nvPr userDrawn="1"/>
        </p:nvSpPr>
        <p:spPr>
          <a:xfrm>
            <a:off x="12625444" y="4418033"/>
            <a:ext cx="1235879" cy="1235878"/>
          </a:xfrm>
          <a:prstGeom prst="rect">
            <a:avLst/>
          </a:prstGeom>
          <a:solidFill>
            <a:srgbClr val="8A3FFC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#8A3FFC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9512372-0859-45E3-8DD7-AE730B4AFD19}"/>
              </a:ext>
            </a:extLst>
          </p:cNvPr>
          <p:cNvSpPr/>
          <p:nvPr userDrawn="1"/>
        </p:nvSpPr>
        <p:spPr>
          <a:xfrm>
            <a:off x="18071881" y="4418033"/>
            <a:ext cx="1235879" cy="1235878"/>
          </a:xfrm>
          <a:prstGeom prst="rect">
            <a:avLst/>
          </a:prstGeom>
          <a:solidFill>
            <a:srgbClr val="0072C3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#0072C3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4197D57-5F46-DB39-F81D-9205CC53189F}"/>
              </a:ext>
            </a:extLst>
          </p:cNvPr>
          <p:cNvSpPr/>
          <p:nvPr userDrawn="1"/>
        </p:nvSpPr>
        <p:spPr>
          <a:xfrm>
            <a:off x="14440923" y="4418033"/>
            <a:ext cx="1235879" cy="1235878"/>
          </a:xfrm>
          <a:prstGeom prst="rect">
            <a:avLst/>
          </a:prstGeom>
          <a:solidFill>
            <a:srgbClr val="D02670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#D02670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70AA9B1-D6E7-98E2-49EF-C98B6F0E7E2F}"/>
              </a:ext>
            </a:extLst>
          </p:cNvPr>
          <p:cNvSpPr/>
          <p:nvPr userDrawn="1"/>
        </p:nvSpPr>
        <p:spPr>
          <a:xfrm>
            <a:off x="16256402" y="4418033"/>
            <a:ext cx="1235879" cy="1235878"/>
          </a:xfrm>
          <a:prstGeom prst="rect">
            <a:avLst/>
          </a:prstGeom>
          <a:solidFill>
            <a:srgbClr val="007D79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#007D79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0A9DFA7-88D2-04F7-451C-7A2C388B178F}"/>
              </a:ext>
            </a:extLst>
          </p:cNvPr>
          <p:cNvSpPr txBox="1"/>
          <p:nvPr userDrawn="1"/>
        </p:nvSpPr>
        <p:spPr>
          <a:xfrm>
            <a:off x="12602453" y="5602152"/>
            <a:ext cx="12378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0" dirty="0">
                <a:solidFill>
                  <a:srgbClr val="FFFFFF"/>
                </a:solidFill>
                <a:effectLst/>
              </a:rPr>
              <a:t>Purple 60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2C98F8E-1DCD-3647-3613-DFFC7CDFF372}"/>
              </a:ext>
            </a:extLst>
          </p:cNvPr>
          <p:cNvSpPr txBox="1"/>
          <p:nvPr userDrawn="1"/>
        </p:nvSpPr>
        <p:spPr>
          <a:xfrm>
            <a:off x="14334144" y="5602152"/>
            <a:ext cx="14480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Magenta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60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29F1073-373D-249D-C1F2-A527EB0210C9}"/>
              </a:ext>
            </a:extLst>
          </p:cNvPr>
          <p:cNvSpPr txBox="1"/>
          <p:nvPr userDrawn="1"/>
        </p:nvSpPr>
        <p:spPr>
          <a:xfrm>
            <a:off x="16404771" y="5602152"/>
            <a:ext cx="9669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Teal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60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D12B31A-8903-A616-B756-B8695FC8F38A}"/>
              </a:ext>
            </a:extLst>
          </p:cNvPr>
          <p:cNvSpPr txBox="1"/>
          <p:nvPr userDrawn="1"/>
        </p:nvSpPr>
        <p:spPr>
          <a:xfrm>
            <a:off x="18206642" y="5602152"/>
            <a:ext cx="10550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Cyan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60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1892CDF-E500-AD18-C0DB-5405AF35ADE4}"/>
              </a:ext>
            </a:extLst>
          </p:cNvPr>
          <p:cNvSpPr/>
          <p:nvPr userDrawn="1"/>
        </p:nvSpPr>
        <p:spPr>
          <a:xfrm>
            <a:off x="19512379" y="2712316"/>
            <a:ext cx="1267863" cy="1267862"/>
          </a:xfrm>
          <a:prstGeom prst="rect">
            <a:avLst/>
          </a:prstGeom>
          <a:solidFill>
            <a:srgbClr val="121619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Icon</a:t>
            </a:r>
          </a:p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</a:t>
            </a:r>
            <a:r>
              <a:rPr lang="en-US" b="0" i="0" dirty="0">
                <a:solidFill>
                  <a:srgbClr val="FFFFFF"/>
                </a:solidFill>
                <a:effectLst/>
                <a:latin typeface="IBM Plex Mono" panose="020B0509050203000203" pitchFamily="49" charset="0"/>
              </a:rPr>
              <a:t>000000</a:t>
            </a:r>
            <a:endParaRPr lang="en-US" dirty="0">
              <a:solidFill>
                <a:schemeClr val="bg2"/>
              </a:solidFill>
              <a:latin typeface="IBM Plex Sans" panose="020B0503050203000203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ACF072D-B1FC-4829-B71E-556F57965D46}"/>
              </a:ext>
            </a:extLst>
          </p:cNvPr>
          <p:cNvSpPr/>
          <p:nvPr userDrawn="1"/>
        </p:nvSpPr>
        <p:spPr>
          <a:xfrm>
            <a:off x="19510690" y="4403963"/>
            <a:ext cx="1264019" cy="1264018"/>
          </a:xfrm>
          <a:prstGeom prst="rect">
            <a:avLst/>
          </a:prstGeom>
          <a:solidFill>
            <a:srgbClr val="FFFF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Icon</a:t>
            </a:r>
          </a:p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</a:t>
            </a:r>
            <a:r>
              <a:rPr lang="en-US" b="0" i="0" dirty="0">
                <a:solidFill>
                  <a:srgbClr val="262626"/>
                </a:solidFill>
                <a:effectLst/>
                <a:latin typeface="IBM Plex Mono" panose="020B0509050203000203" pitchFamily="49" charset="0"/>
              </a:rPr>
              <a:t>FFFFFF</a:t>
            </a:r>
            <a:endParaRPr lang="en-US" dirty="0">
              <a:solidFill>
                <a:srgbClr val="262626"/>
              </a:solidFill>
              <a:latin typeface="IBM Plex Sans" panose="020B0503050203000203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98BBA60-CCFF-F95A-ECC9-46204EA2214B}"/>
              </a:ext>
            </a:extLst>
          </p:cNvPr>
          <p:cNvSpPr/>
          <p:nvPr userDrawn="1"/>
        </p:nvSpPr>
        <p:spPr>
          <a:xfrm>
            <a:off x="12625444" y="1072749"/>
            <a:ext cx="1235879" cy="1235878"/>
          </a:xfrm>
          <a:prstGeom prst="rect">
            <a:avLst/>
          </a:prstGeom>
          <a:solidFill>
            <a:srgbClr val="F6F2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#F6F2FF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3F05CFF-A449-FBB3-5F13-F7A72C2E43DE}"/>
              </a:ext>
            </a:extLst>
          </p:cNvPr>
          <p:cNvSpPr/>
          <p:nvPr userDrawn="1"/>
        </p:nvSpPr>
        <p:spPr>
          <a:xfrm>
            <a:off x="18071881" y="1072749"/>
            <a:ext cx="1235879" cy="1235878"/>
          </a:xfrm>
          <a:prstGeom prst="rect">
            <a:avLst/>
          </a:prstGeom>
          <a:solidFill>
            <a:srgbClr val="E5F6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#E5F6FF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4895BC4-B52A-2D00-62C1-71A44604BBB4}"/>
              </a:ext>
            </a:extLst>
          </p:cNvPr>
          <p:cNvSpPr/>
          <p:nvPr userDrawn="1"/>
        </p:nvSpPr>
        <p:spPr>
          <a:xfrm>
            <a:off x="14440923" y="1072749"/>
            <a:ext cx="1235879" cy="1235878"/>
          </a:xfrm>
          <a:prstGeom prst="rect">
            <a:avLst/>
          </a:prstGeom>
          <a:solidFill>
            <a:srgbClr val="FFF0F7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#FFF0F7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5B5B6C5-97CB-45FD-FDEC-1F5C2A0BDC3E}"/>
              </a:ext>
            </a:extLst>
          </p:cNvPr>
          <p:cNvSpPr/>
          <p:nvPr userDrawn="1"/>
        </p:nvSpPr>
        <p:spPr>
          <a:xfrm>
            <a:off x="16256402" y="1072749"/>
            <a:ext cx="1235879" cy="1235878"/>
          </a:xfrm>
          <a:prstGeom prst="rect">
            <a:avLst/>
          </a:prstGeom>
          <a:solidFill>
            <a:srgbClr val="D9FBFB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#D9FBFB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4DCC439-D448-E0FC-26EF-94C7A8B8D0DB}"/>
              </a:ext>
            </a:extLst>
          </p:cNvPr>
          <p:cNvSpPr txBox="1"/>
          <p:nvPr userDrawn="1"/>
        </p:nvSpPr>
        <p:spPr>
          <a:xfrm>
            <a:off x="12602453" y="2256868"/>
            <a:ext cx="12378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0" dirty="0">
                <a:solidFill>
                  <a:srgbClr val="FFFFFF"/>
                </a:solidFill>
                <a:effectLst/>
              </a:rPr>
              <a:t>Purple 10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04B7B48-2E66-50BA-96FE-D24C4E60BFD7}"/>
              </a:ext>
            </a:extLst>
          </p:cNvPr>
          <p:cNvSpPr txBox="1"/>
          <p:nvPr userDrawn="1"/>
        </p:nvSpPr>
        <p:spPr>
          <a:xfrm>
            <a:off x="14334144" y="2256868"/>
            <a:ext cx="14494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Magenta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10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7C767BF-EB72-86A2-DBA6-0D26C6C02894}"/>
              </a:ext>
            </a:extLst>
          </p:cNvPr>
          <p:cNvSpPr txBox="1"/>
          <p:nvPr userDrawn="1"/>
        </p:nvSpPr>
        <p:spPr>
          <a:xfrm>
            <a:off x="16404771" y="2256868"/>
            <a:ext cx="966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Teal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10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FEDF829-6CB0-F03B-E025-85D510B4DC26}"/>
              </a:ext>
            </a:extLst>
          </p:cNvPr>
          <p:cNvSpPr txBox="1"/>
          <p:nvPr userDrawn="1"/>
        </p:nvSpPr>
        <p:spPr>
          <a:xfrm>
            <a:off x="18206642" y="2256868"/>
            <a:ext cx="10550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Cyan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10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FF97BF5-A64D-02F2-4B04-BC95CE39DF3F}"/>
              </a:ext>
            </a:extLst>
          </p:cNvPr>
          <p:cNvSpPr/>
          <p:nvPr userDrawn="1"/>
        </p:nvSpPr>
        <p:spPr>
          <a:xfrm>
            <a:off x="16222135" y="-2341897"/>
            <a:ext cx="1267863" cy="1267862"/>
          </a:xfrm>
          <a:prstGeom prst="rect">
            <a:avLst/>
          </a:prstGeom>
          <a:solidFill>
            <a:srgbClr val="C1C7CD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Text BG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#C1C7CD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3738F9B-27C5-3C49-8FD7-0731EE9AC3BF}"/>
              </a:ext>
            </a:extLst>
          </p:cNvPr>
          <p:cNvSpPr/>
          <p:nvPr userDrawn="1"/>
        </p:nvSpPr>
        <p:spPr>
          <a:xfrm>
            <a:off x="16222135" y="-801901"/>
            <a:ext cx="1267863" cy="1267862"/>
          </a:xfrm>
          <a:prstGeom prst="rect">
            <a:avLst/>
          </a:prstGeom>
          <a:solidFill>
            <a:srgbClr val="F2F4F8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Text BG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#F2F4F8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7194F16-D83C-3057-9151-A884EA8F0931}"/>
              </a:ext>
            </a:extLst>
          </p:cNvPr>
          <p:cNvSpPr/>
          <p:nvPr userDrawn="1"/>
        </p:nvSpPr>
        <p:spPr>
          <a:xfrm>
            <a:off x="14397282" y="-2352139"/>
            <a:ext cx="1267863" cy="1267862"/>
          </a:xfrm>
          <a:prstGeom prst="rect">
            <a:avLst/>
          </a:prstGeom>
          <a:solidFill>
            <a:srgbClr val="BE95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Text BG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#BE95FF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0C7A661-0FF9-B849-2771-84AA24CF5EFF}"/>
              </a:ext>
            </a:extLst>
          </p:cNvPr>
          <p:cNvSpPr/>
          <p:nvPr userDrawn="1"/>
        </p:nvSpPr>
        <p:spPr>
          <a:xfrm>
            <a:off x="14397282" y="-812143"/>
            <a:ext cx="1267863" cy="1267862"/>
          </a:xfrm>
          <a:prstGeom prst="rect">
            <a:avLst/>
          </a:prstGeom>
          <a:solidFill>
            <a:srgbClr val="33B1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Text BG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#33B1FF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84675A9-3F9A-460D-D8D6-C5D9516859D4}"/>
              </a:ext>
            </a:extLst>
          </p:cNvPr>
          <p:cNvSpPr/>
          <p:nvPr userDrawn="1"/>
        </p:nvSpPr>
        <p:spPr>
          <a:xfrm>
            <a:off x="12572429" y="-2309174"/>
            <a:ext cx="1267863" cy="1267862"/>
          </a:xfrm>
          <a:prstGeom prst="rect">
            <a:avLst/>
          </a:prstGeom>
          <a:solidFill>
            <a:srgbClr val="08BDBA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Text BG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#08BDBA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FD8C7787-7D0E-ED5D-DB99-53C4B52AA8F2}"/>
              </a:ext>
            </a:extLst>
          </p:cNvPr>
          <p:cNvSpPr/>
          <p:nvPr userDrawn="1"/>
        </p:nvSpPr>
        <p:spPr>
          <a:xfrm>
            <a:off x="12572429" y="-769178"/>
            <a:ext cx="1267863" cy="1267862"/>
          </a:xfrm>
          <a:prstGeom prst="rect">
            <a:avLst/>
          </a:prstGeom>
          <a:solidFill>
            <a:srgbClr val="78A9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Text BG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#78A9FF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20CCBF62-5F94-E366-51BD-6C8DCBF90955}"/>
              </a:ext>
            </a:extLst>
          </p:cNvPr>
          <p:cNvSpPr/>
          <p:nvPr userDrawn="1"/>
        </p:nvSpPr>
        <p:spPr>
          <a:xfrm>
            <a:off x="17993876" y="-2309174"/>
            <a:ext cx="1267863" cy="1267862"/>
          </a:xfrm>
          <a:prstGeom prst="rect">
            <a:avLst/>
          </a:prstGeom>
          <a:solidFill>
            <a:srgbClr val="525252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Labels</a:t>
            </a:r>
          </a:p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#525252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E5880850-0EBA-AD14-E6FD-BB1DC94F3DA5}"/>
              </a:ext>
            </a:extLst>
          </p:cNvPr>
          <p:cNvSpPr/>
          <p:nvPr userDrawn="1"/>
        </p:nvSpPr>
        <p:spPr>
          <a:xfrm>
            <a:off x="17993875" y="-812143"/>
            <a:ext cx="1267863" cy="1267862"/>
          </a:xfrm>
          <a:prstGeom prst="rect">
            <a:avLst/>
          </a:prstGeom>
          <a:solidFill>
            <a:srgbClr val="262626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Text</a:t>
            </a:r>
          </a:p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#262626</a:t>
            </a: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56209ACE-A4F7-EAC9-E98F-D141BE77F994}"/>
              </a:ext>
            </a:extLst>
          </p:cNvPr>
          <p:cNvGrpSpPr/>
          <p:nvPr userDrawn="1"/>
        </p:nvGrpSpPr>
        <p:grpSpPr>
          <a:xfrm>
            <a:off x="11094856" y="6244940"/>
            <a:ext cx="1098532" cy="613059"/>
            <a:chOff x="8965342" y="4231217"/>
            <a:chExt cx="1608171" cy="897474"/>
          </a:xfrm>
        </p:grpSpPr>
        <p:pic>
          <p:nvPicPr>
            <p:cNvPr id="60" name="Graphic 59">
              <a:extLst>
                <a:ext uri="{FF2B5EF4-FFF2-40B4-BE49-F238E27FC236}">
                  <a16:creationId xmlns:a16="http://schemas.microsoft.com/office/drawing/2014/main" id="{EFEE4105-67FB-F40B-E7BD-8C9B80C32F8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9321121" y="4418033"/>
              <a:ext cx="897474" cy="355817"/>
            </a:xfrm>
            <a:prstGeom prst="rect">
              <a:avLst/>
            </a:prstGeom>
          </p:spPr>
        </p:pic>
        <p:pic>
          <p:nvPicPr>
            <p:cNvPr id="61" name="Graphic 60" hidden="1">
              <a:extLst>
                <a:ext uri="{FF2B5EF4-FFF2-40B4-BE49-F238E27FC236}">
                  <a16:creationId xmlns:a16="http://schemas.microsoft.com/office/drawing/2014/main" id="{9AB2407C-B3E2-DCDD-0692-DD32E3C4522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9321121" y="4772874"/>
              <a:ext cx="897474" cy="355817"/>
            </a:xfrm>
            <a:prstGeom prst="rect">
              <a:avLst/>
            </a:prstGeom>
          </p:spPr>
        </p:pic>
        <p:pic>
          <p:nvPicPr>
            <p:cNvPr id="62" name="Graphic 61" hidden="1">
              <a:extLst>
                <a:ext uri="{FF2B5EF4-FFF2-40B4-BE49-F238E27FC236}">
                  <a16:creationId xmlns:a16="http://schemas.microsoft.com/office/drawing/2014/main" id="{9128FFA9-E729-6051-FE44-5C57854D2B9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 rot="16200000">
              <a:off x="9946868" y="4502045"/>
              <a:ext cx="897474" cy="355817"/>
            </a:xfrm>
            <a:prstGeom prst="rect">
              <a:avLst/>
            </a:prstGeom>
          </p:spPr>
        </p:pic>
        <p:pic>
          <p:nvPicPr>
            <p:cNvPr id="63" name="Graphic 62" hidden="1">
              <a:extLst>
                <a:ext uri="{FF2B5EF4-FFF2-40B4-BE49-F238E27FC236}">
                  <a16:creationId xmlns:a16="http://schemas.microsoft.com/office/drawing/2014/main" id="{21D1BE07-55D7-FEB6-D90F-FC214DFBDA4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 rot="16200000">
              <a:off x="8694514" y="4502045"/>
              <a:ext cx="897474" cy="355817"/>
            </a:xfrm>
            <a:prstGeom prst="rect">
              <a:avLst/>
            </a:prstGeom>
          </p:spPr>
        </p:pic>
      </p:grpSp>
      <p:pic>
        <p:nvPicPr>
          <p:cNvPr id="66" name="Graphic 65">
            <a:extLst>
              <a:ext uri="{FF2B5EF4-FFF2-40B4-BE49-F238E27FC236}">
                <a16:creationId xmlns:a16="http://schemas.microsoft.com/office/drawing/2014/main" id="{FD0E63E5-36ED-0A5F-F2A0-E31AD11555EA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241053" y="6372101"/>
            <a:ext cx="1630680" cy="247650"/>
          </a:xfrm>
          <a:prstGeom prst="rect">
            <a:avLst/>
          </a:prstGeom>
        </p:spPr>
      </p:pic>
      <p:sp>
        <p:nvSpPr>
          <p:cNvPr id="67" name="Rectangle 66" hidden="1">
            <a:extLst>
              <a:ext uri="{FF2B5EF4-FFF2-40B4-BE49-F238E27FC236}">
                <a16:creationId xmlns:a16="http://schemas.microsoft.com/office/drawing/2014/main" id="{04EE5960-43EB-4B14-0782-2876BE85A607}"/>
              </a:ext>
            </a:extLst>
          </p:cNvPr>
          <p:cNvSpPr/>
          <p:nvPr userDrawn="1"/>
        </p:nvSpPr>
        <p:spPr>
          <a:xfrm>
            <a:off x="-76201" y="6356350"/>
            <a:ext cx="12353925" cy="276797"/>
          </a:xfrm>
          <a:prstGeom prst="rect">
            <a:avLst/>
          </a:prstGeom>
          <a:noFill/>
          <a:ln w="28575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8"/>
    </p:custDataLst>
    <p:extLst>
      <p:ext uri="{BB962C8B-B14F-4D97-AF65-F5344CB8AC3E}">
        <p14:creationId xmlns:p14="http://schemas.microsoft.com/office/powerpoint/2010/main" val="1270442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4" r:id="rId3"/>
    <p:sldLayoutId id="2147483666" r:id="rId4"/>
    <p:sldLayoutId id="2147483667" r:id="rId5"/>
    <p:sldLayoutId id="2147483673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i="0" kern="1200">
          <a:solidFill>
            <a:srgbClr val="525252"/>
          </a:solidFill>
          <a:latin typeface="IBM Plex Sans SemiBold" panose="020B0503050203000203" pitchFamily="34" charset="0"/>
          <a:ea typeface="IBM Plex Sans SemiBold" panose="020B0503050203000203" pitchFamily="34" charset="0"/>
          <a:cs typeface="IBM Plex Sans SemiBold" panose="020B050305020300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rgbClr val="262626"/>
          </a:solidFill>
          <a:latin typeface="IBM Plex Sans" panose="020B0503050203000203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rgbClr val="262626"/>
          </a:solidFill>
          <a:latin typeface="IBM Plex Sans" panose="020B0503050203000203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rgbClr val="262626"/>
          </a:solidFill>
          <a:latin typeface="IBM Plex Sans" panose="020B0503050203000203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rgbClr val="262626"/>
          </a:solidFill>
          <a:latin typeface="IBM Plex Sans" panose="020B0503050203000203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rgbClr val="262626"/>
          </a:solidFill>
          <a:latin typeface="IBM Plex Sans" panose="020B0503050203000203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13" Type="http://schemas.openxmlformats.org/officeDocument/2006/relationships/customXml" Target="../ink/ink8.xml"/><Relationship Id="rId3" Type="http://schemas.openxmlformats.org/officeDocument/2006/relationships/image" Target="../media/image9.png"/><Relationship Id="rId7" Type="http://schemas.openxmlformats.org/officeDocument/2006/relationships/customXml" Target="../ink/ink3.xml"/><Relationship Id="rId12" Type="http://schemas.openxmlformats.org/officeDocument/2006/relationships/customXml" Target="../ink/ink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Relationship Id="rId6" Type="http://schemas.openxmlformats.org/officeDocument/2006/relationships/customXml" Target="../ink/ink2.xml"/><Relationship Id="rId11" Type="http://schemas.openxmlformats.org/officeDocument/2006/relationships/customXml" Target="../ink/ink6.xml"/><Relationship Id="rId5" Type="http://schemas.openxmlformats.org/officeDocument/2006/relationships/image" Target="../media/image10.png"/><Relationship Id="rId10" Type="http://schemas.openxmlformats.org/officeDocument/2006/relationships/customXml" Target="../ink/ink5.xml"/><Relationship Id="rId4" Type="http://schemas.openxmlformats.org/officeDocument/2006/relationships/customXml" Target="../ink/ink1.xml"/><Relationship Id="rId9" Type="http://schemas.openxmlformats.org/officeDocument/2006/relationships/image" Target="../media/image11.png"/><Relationship Id="rId14" Type="http://schemas.openxmlformats.org/officeDocument/2006/relationships/customXml" Target="../ink/ink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0.xml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cf-courses-data.s3.us.cloud-object-storage.appdomain.cloud/HLOosvsPgIwt5dgOOh1RSg/survey-data-updated.csv" TargetMode="Externa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1.xm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2.xml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4.xml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2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3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4.xml"/><Relationship Id="rId5" Type="http://schemas.openxmlformats.org/officeDocument/2006/relationships/chart" Target="../charts/chart1.xml"/><Relationship Id="rId4" Type="http://schemas.openxmlformats.org/officeDocument/2006/relationships/image" Target="../media/image31.e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file:///D:\NPower\Course%209\Assignment%20Submission\M1_WebScraping\popular-languages.csv" TargetMode="Externa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5.xml"/><Relationship Id="rId5" Type="http://schemas.openxmlformats.org/officeDocument/2006/relationships/chart" Target="../charts/chart2.xml"/><Relationship Id="rId4" Type="http://schemas.openxmlformats.org/officeDocument/2006/relationships/image" Target="../media/image3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D5631-0297-E86E-7069-C969B141FD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0152" y="1168401"/>
            <a:ext cx="6954592" cy="2387600"/>
          </a:xfrm>
          <a:noFill/>
        </p:spPr>
        <p:txBody>
          <a:bodyPr/>
          <a:lstStyle/>
          <a:p>
            <a:r>
              <a:rPr lang="en-US" dirty="0"/>
              <a:t>IBM Data Analyst Capstone Project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DF6B8D-2BAC-11F8-7D28-B631D08C8D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0152" y="3731247"/>
            <a:ext cx="7094568" cy="1655762"/>
          </a:xfrm>
          <a:noFill/>
        </p:spPr>
        <p:txBody>
          <a:bodyPr/>
          <a:lstStyle/>
          <a:p>
            <a:r>
              <a:rPr lang="en-US" dirty="0"/>
              <a:t>CHERRY MAUNG</a:t>
            </a:r>
          </a:p>
          <a:p>
            <a:r>
              <a:rPr lang="en-US" dirty="0"/>
              <a:t>22</a:t>
            </a:r>
            <a:r>
              <a:rPr lang="en-US" baseline="30000" dirty="0"/>
              <a:t>ND</a:t>
            </a:r>
            <a:r>
              <a:rPr lang="en-US" dirty="0"/>
              <a:t> JANUARY, 2026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7323E2C-8982-861D-BE1D-3E30E5CC43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4719" y="387350"/>
            <a:ext cx="4794861" cy="4351338"/>
          </a:xfrm>
          <a:prstGeom prst="rect">
            <a:avLst/>
          </a:prstGeom>
          <a:noFill/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0097309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13BC838-B25A-D37F-BC71-DD61789570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0711" y="2025672"/>
            <a:ext cx="3194581" cy="3194581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EEC79264-7E04-A135-9158-F7EF333AC3D8}"/>
              </a:ext>
            </a:extLst>
          </p:cNvPr>
          <p:cNvSpPr txBox="1">
            <a:spLocks/>
          </p:cNvSpPr>
          <p:nvPr/>
        </p:nvSpPr>
        <p:spPr>
          <a:xfrm>
            <a:off x="782054" y="263810"/>
            <a:ext cx="850852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rgbClr val="525252"/>
                </a:solidFill>
                <a:latin typeface="IBM Plex Sans SemiBold" panose="020B0503050203000203" pitchFamily="34" charset="0"/>
                <a:ea typeface="IBM Plex Sans SemiBold" panose="020B0503050203000203" pitchFamily="34" charset="0"/>
                <a:cs typeface="IBM Plex Sans SemiBold" panose="020B0503050203000203" pitchFamily="34" charset="0"/>
              </a:defRPr>
            </a:lvl1pPr>
          </a:lstStyle>
          <a:p>
            <a:r>
              <a:rPr lang="en-US"/>
              <a:t>OUTLINE</a:t>
            </a:r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9639434-C7DB-C6DD-28C9-5FE3588C5BC8}"/>
              </a:ext>
            </a:extLst>
          </p:cNvPr>
          <p:cNvSpPr txBox="1">
            <a:spLocks/>
          </p:cNvSpPr>
          <p:nvPr/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Executive Summary</a:t>
            </a:r>
          </a:p>
          <a:p>
            <a:r>
              <a:rPr lang="en-US" sz="2000" dirty="0"/>
              <a:t>Introduction</a:t>
            </a:r>
          </a:p>
          <a:p>
            <a:r>
              <a:rPr lang="en-US" sz="2000" dirty="0"/>
              <a:t>Methodology</a:t>
            </a:r>
          </a:p>
          <a:p>
            <a:r>
              <a:rPr lang="en-US" sz="2000" dirty="0"/>
              <a:t>Results</a:t>
            </a:r>
          </a:p>
          <a:p>
            <a:r>
              <a:rPr lang="en-US" sz="2000" dirty="0"/>
              <a:t>Visualization – Charts</a:t>
            </a:r>
          </a:p>
          <a:p>
            <a:r>
              <a:rPr lang="en-US" sz="2000" dirty="0"/>
              <a:t>Dashboard</a:t>
            </a:r>
          </a:p>
          <a:p>
            <a:r>
              <a:rPr lang="en-US" sz="2000" dirty="0"/>
              <a:t>Discussion</a:t>
            </a:r>
          </a:p>
          <a:p>
            <a:r>
              <a:rPr lang="en-US" sz="2000" dirty="0"/>
              <a:t>Findings &amp; Implications</a:t>
            </a:r>
          </a:p>
          <a:p>
            <a:r>
              <a:rPr lang="en-US" sz="2000" dirty="0"/>
              <a:t>Conclusion</a:t>
            </a:r>
          </a:p>
          <a:p>
            <a:r>
              <a:rPr lang="en-US" sz="2000" dirty="0"/>
              <a:t>Appendix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17992DA0-58E4-05C4-71CF-DD740B996440}"/>
                  </a:ext>
                </a:extLst>
              </p14:cNvPr>
              <p14:cNvContentPartPr/>
              <p14:nvPr/>
            </p14:nvContentPartPr>
            <p14:xfrm>
              <a:off x="1889280" y="999312"/>
              <a:ext cx="360" cy="3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17992DA0-58E4-05C4-71CF-DD740B99644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799280" y="81931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482A2257-403C-392A-475C-257A25E95802}"/>
                  </a:ext>
                </a:extLst>
              </p14:cNvPr>
              <p14:cNvContentPartPr/>
              <p14:nvPr/>
            </p14:nvContentPartPr>
            <p14:xfrm>
              <a:off x="2328120" y="962952"/>
              <a:ext cx="360" cy="3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482A2257-403C-392A-475C-257A25E9580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238120" y="78295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D029E5DF-95C3-9324-3430-6C07411D941C}"/>
                  </a:ext>
                </a:extLst>
              </p14:cNvPr>
              <p14:cNvContentPartPr/>
              <p14:nvPr/>
            </p14:nvContentPartPr>
            <p14:xfrm>
              <a:off x="2828160" y="926232"/>
              <a:ext cx="360" cy="3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D029E5DF-95C3-9324-3430-6C07411D941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738160" y="74623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51E65F16-DA3B-6993-F729-45193F9CF124}"/>
                  </a:ext>
                </a:extLst>
              </p14:cNvPr>
              <p14:cNvContentPartPr/>
              <p14:nvPr/>
            </p14:nvContentPartPr>
            <p14:xfrm>
              <a:off x="2828160" y="926232"/>
              <a:ext cx="3240" cy="504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51E65F16-DA3B-6993-F729-45193F9CF124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738160" y="758232"/>
                <a:ext cx="182880" cy="34070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DA4954AB-7AA6-D07E-B72B-071B959556E6}"/>
                  </a:ext>
                </a:extLst>
              </p14:cNvPr>
              <p14:cNvContentPartPr/>
              <p14:nvPr/>
            </p14:nvContentPartPr>
            <p14:xfrm>
              <a:off x="7266240" y="2888952"/>
              <a:ext cx="360" cy="3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DA4954AB-7AA6-D07E-B72B-071B959556E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176240" y="270895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4C9430D9-2989-125F-94DC-1DA2D66BDD55}"/>
                  </a:ext>
                </a:extLst>
              </p14:cNvPr>
              <p14:cNvContentPartPr/>
              <p14:nvPr/>
            </p14:nvContentPartPr>
            <p14:xfrm>
              <a:off x="7266240" y="2888952"/>
              <a:ext cx="360" cy="3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4C9430D9-2989-125F-94DC-1DA2D66BDD5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176240" y="270895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009380E8-5542-6CEB-DEF5-1F0E98FBDFC2}"/>
                  </a:ext>
                </a:extLst>
              </p14:cNvPr>
              <p14:cNvContentPartPr/>
              <p14:nvPr/>
            </p14:nvContentPartPr>
            <p14:xfrm>
              <a:off x="7266240" y="2888952"/>
              <a:ext cx="360" cy="3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009380E8-5542-6CEB-DEF5-1F0E98FBDFC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176240" y="270895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73A9B50E-8658-465E-AEAA-D97CD87BB40D}"/>
                  </a:ext>
                </a:extLst>
              </p14:cNvPr>
              <p14:cNvContentPartPr/>
              <p14:nvPr/>
            </p14:nvContentPartPr>
            <p14:xfrm>
              <a:off x="7266240" y="2888952"/>
              <a:ext cx="360" cy="3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73A9B50E-8658-465E-AEAA-D97CD87BB40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176240" y="270895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329C95BA-F81E-F99B-4BF2-F62AECFA21A6}"/>
                  </a:ext>
                </a:extLst>
              </p14:cNvPr>
              <p14:cNvContentPartPr/>
              <p14:nvPr/>
            </p14:nvContentPartPr>
            <p14:xfrm>
              <a:off x="6680880" y="2877072"/>
              <a:ext cx="360" cy="36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329C95BA-F81E-F99B-4BF2-F62AECFA21A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590880" y="2697072"/>
                <a:ext cx="180000" cy="360000"/>
              </a:xfrm>
              <a:prstGeom prst="rect">
                <a:avLst/>
              </a:prstGeom>
            </p:spPr>
          </p:pic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14532411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E48DC5-8A48-2A34-31B9-FC8CB168C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926" y="304965"/>
            <a:ext cx="8565109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EXECUTIVE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B44109-938A-7A63-C3A8-FDDB5C799EA5}"/>
              </a:ext>
            </a:extLst>
          </p:cNvPr>
          <p:cNvSpPr txBox="1">
            <a:spLocks/>
          </p:cNvSpPr>
          <p:nvPr/>
        </p:nvSpPr>
        <p:spPr>
          <a:xfrm>
            <a:off x="4285075" y="1825624"/>
            <a:ext cx="7068725" cy="44654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/>
              <a:t>Project Overview - This project addresses the real-world problems of employment in technology sector in terms of key features such as employment type, age, education level, technology used, future trends and satisfaction level, etc.</a:t>
            </a:r>
          </a:p>
          <a:p>
            <a:r>
              <a:rPr lang="en-US" sz="1800" dirty="0"/>
              <a:t>Objectives and Purposes –The objectives and purposes include to handle a complex, real-world dataset and produce visualized presentation for key findings:-</a:t>
            </a:r>
          </a:p>
          <a:p>
            <a:pPr lvl="1"/>
            <a:r>
              <a:rPr lang="en-US" sz="1800" dirty="0"/>
              <a:t>Most of the current language usage  is the same as future trends except for PHP, PowerShell where Go, Rust in future trends will be replacing.</a:t>
            </a:r>
          </a:p>
          <a:p>
            <a:pPr lvl="1"/>
            <a:r>
              <a:rPr lang="en-US" sz="1800" dirty="0"/>
              <a:t>In Future Technology Trends, more than 2500 respondents are interested to use the framework </a:t>
            </a:r>
            <a:r>
              <a:rPr lang="en-US" sz="1800" dirty="0" err="1"/>
              <a:t>suvelte</a:t>
            </a:r>
            <a:r>
              <a:rPr lang="en-US" sz="1800" dirty="0"/>
              <a:t>.  </a:t>
            </a:r>
          </a:p>
          <a:p>
            <a:pPr lvl="1"/>
            <a:r>
              <a:rPr lang="en-US" sz="1800" dirty="0"/>
              <a:t>More than half of the respondents are in the age group between 25-44 years old.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A6795A9-FE70-B337-8B17-B79ACA60A9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0494" y="2302762"/>
            <a:ext cx="3194581" cy="319458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5553854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676FB0-8465-86A8-332A-32CC35A5D2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7DC8D-244C-F7EC-5F66-ACB99A7D61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0021" y="365125"/>
            <a:ext cx="7647865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INTRODUCTION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BCC879F-E713-B75A-D2DE-0953EB0EA4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4347" y="2262036"/>
            <a:ext cx="3054361" cy="3054361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D35578F-30C9-4905-FD4E-7366FEFAEA7F}"/>
              </a:ext>
            </a:extLst>
          </p:cNvPr>
          <p:cNvSpPr txBox="1">
            <a:spLocks/>
          </p:cNvSpPr>
          <p:nvPr/>
        </p:nvSpPr>
        <p:spPr>
          <a:xfrm>
            <a:off x="4285075" y="1825625"/>
            <a:ext cx="70687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200" dirty="0">
                <a:solidFill>
                  <a:schemeClr val="tx1"/>
                </a:solidFill>
              </a:rPr>
              <a:t>This project use the survey dataset which include columns of employment type, work status, age, experience, satisfaction level, compensation and technologies usage and future trends, etc. It is a huge and complex dataset.</a:t>
            </a:r>
          </a:p>
          <a:p>
            <a:r>
              <a:rPr lang="en-US" sz="2200" dirty="0">
                <a:solidFill>
                  <a:schemeClr val="tx1"/>
                </a:solidFill>
              </a:rPr>
              <a:t>Its purpose is to evaluate current technology usage with future trends.</a:t>
            </a:r>
          </a:p>
          <a:p>
            <a:r>
              <a:rPr lang="en-US" sz="2200" dirty="0">
                <a:solidFill>
                  <a:schemeClr val="tx1"/>
                </a:solidFill>
              </a:rPr>
              <a:t>This report is targeted for professionals exploring career-defining competencies within the technology industry..</a:t>
            </a:r>
          </a:p>
          <a:p>
            <a:r>
              <a:rPr lang="en-US" sz="2200" dirty="0">
                <a:solidFill>
                  <a:schemeClr val="tx1"/>
                </a:solidFill>
              </a:rPr>
              <a:t>It provides the opportunity of enhancing skills in the process of data analysis from web scrapping, data wrangling, EDA, visualization and presentations.</a:t>
            </a:r>
          </a:p>
          <a:p>
            <a:r>
              <a:rPr lang="en-US" sz="2200" dirty="0">
                <a:solidFill>
                  <a:schemeClr val="tx1"/>
                </a:solidFill>
              </a:rPr>
              <a:t>The value is to acknowledge the future trends in technology sector which could improve related skillsets for future career.</a:t>
            </a:r>
          </a:p>
          <a:p>
            <a:r>
              <a:rPr lang="en-US" sz="2200" dirty="0">
                <a:solidFill>
                  <a:schemeClr val="tx1"/>
                </a:solidFill>
              </a:rPr>
              <a:t>The Reports in this projects include:-</a:t>
            </a:r>
          </a:p>
          <a:p>
            <a:pPr lvl="1"/>
            <a:r>
              <a:rPr lang="en-US" sz="1800" dirty="0">
                <a:solidFill>
                  <a:schemeClr val="tx1"/>
                </a:solidFill>
              </a:rPr>
              <a:t>Current Technology Usage</a:t>
            </a:r>
          </a:p>
          <a:p>
            <a:pPr lvl="1"/>
            <a:r>
              <a:rPr lang="en-US" sz="1800" dirty="0">
                <a:solidFill>
                  <a:schemeClr val="tx1"/>
                </a:solidFill>
              </a:rPr>
              <a:t>Future Technology Trends</a:t>
            </a:r>
          </a:p>
          <a:p>
            <a:pPr lvl="1"/>
            <a:r>
              <a:rPr lang="en-US" sz="1800" dirty="0">
                <a:solidFill>
                  <a:schemeClr val="tx1"/>
                </a:solidFill>
              </a:rPr>
              <a:t>Demographics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408633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11DCFD-8450-17AD-05D4-229BA1C66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AB7E7-7534-10CB-A359-88015C285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053" y="376642"/>
            <a:ext cx="7230723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F8C842-232A-AE37-3471-90353781809D}"/>
              </a:ext>
            </a:extLst>
          </p:cNvPr>
          <p:cNvSpPr txBox="1">
            <a:spLocks/>
          </p:cNvSpPr>
          <p:nvPr/>
        </p:nvSpPr>
        <p:spPr>
          <a:xfrm>
            <a:off x="4397414" y="1343076"/>
            <a:ext cx="7068725" cy="496411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/>
              <a:t>In this project, The data set used in this assignment is the Stack Overflow Developer Survey data is available at: </a:t>
            </a:r>
            <a:r>
              <a:rPr lang="en-US" sz="1600" dirty="0">
                <a:solidFill>
                  <a:schemeClr val="accent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https://cf-courses-data.s3.us.cloud-object-storage.appdomain.cloud/HLOosvsPgIwt5dgOOh1RSg/survey-data-updated.csv</a:t>
            </a:r>
            <a:endParaRPr lang="en-US" sz="1600" dirty="0">
              <a:solidFill>
                <a:schemeClr val="accent1"/>
              </a:solidFill>
            </a:endParaRPr>
          </a:p>
          <a:p>
            <a:r>
              <a:rPr lang="en-US" sz="1600" dirty="0"/>
              <a:t> It is downloaded and loaded to the workplace using </a:t>
            </a:r>
          </a:p>
          <a:p>
            <a:pPr lvl="1"/>
            <a:r>
              <a:rPr lang="en-US" sz="1600" dirty="0" err="1"/>
              <a:t>df</a:t>
            </a:r>
            <a:r>
              <a:rPr lang="en-US" sz="1600" dirty="0"/>
              <a:t> = </a:t>
            </a:r>
            <a:r>
              <a:rPr lang="en-US" sz="1600" dirty="0" err="1"/>
              <a:t>pd.read_csv</a:t>
            </a:r>
            <a:r>
              <a:rPr lang="en-US" sz="1600" dirty="0"/>
              <a:t>('survey_data_updated.csv’).</a:t>
            </a:r>
          </a:p>
          <a:p>
            <a:pPr lvl="1"/>
            <a:r>
              <a:rPr lang="en-US" sz="1600" dirty="0"/>
              <a:t>Then, exploring the dataset, identify column name, shape, data types and summary statistics.</a:t>
            </a:r>
          </a:p>
          <a:p>
            <a:r>
              <a:rPr lang="en-US" sz="1600" dirty="0"/>
              <a:t>Then, perform data wrangling by</a:t>
            </a:r>
          </a:p>
          <a:p>
            <a:pPr lvl="1"/>
            <a:r>
              <a:rPr lang="en-US" sz="1600" dirty="0"/>
              <a:t>identifying and removing duplicates, </a:t>
            </a:r>
          </a:p>
          <a:p>
            <a:pPr lvl="1"/>
            <a:r>
              <a:rPr lang="en-US" sz="1600" dirty="0"/>
              <a:t>Identifying, filling, replacing missing values with mean and frequency values or removing missing values</a:t>
            </a:r>
          </a:p>
          <a:p>
            <a:pPr lvl="1"/>
            <a:r>
              <a:rPr lang="en-US" sz="1600" dirty="0"/>
              <a:t>Standardizing the data with normalization, mapping and replacing</a:t>
            </a:r>
          </a:p>
          <a:p>
            <a:r>
              <a:rPr lang="en-US" sz="1600" dirty="0"/>
              <a:t>After that, Exploratory Data Analysis take place to identify and analyze the trends and pattern of the data. Furthermore, Matplotlib and Seaborn libraries are employed to visualize the date</a:t>
            </a:r>
          </a:p>
          <a:p>
            <a:r>
              <a:rPr lang="en-US" sz="1600" dirty="0"/>
              <a:t>Moreover, optimized data visualization dashboards with Google Looker Studio. Finally, the data is presented by using power point to communicate with the audience.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80CF71F-8A03-DAC7-4BC2-F05644ECBF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9655" y="1831709"/>
            <a:ext cx="3194581" cy="319458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7916925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E27A2E-C667-F6D3-A1E3-47F70603E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539A591-4DF0-3912-FF72-3FD0BD7B9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PROGRAMMING LANGUAGE TRENDS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4B8C8AD-F58A-1F17-9CA2-E737E19499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13816" y="1825625"/>
            <a:ext cx="2228642" cy="50193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Current Year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D9FB3B79-D3E9-99FC-ECF2-28CCBF6475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1758142" cy="50193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Next Year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2DFAC5CF-1B58-ABB4-D63B-1D931D572459}"/>
              </a:ext>
            </a:extLst>
          </p:cNvPr>
          <p:cNvSpPr txBox="1">
            <a:spLocks/>
          </p:cNvSpPr>
          <p:nvPr/>
        </p:nvSpPr>
        <p:spPr>
          <a:xfrm>
            <a:off x="838199" y="2506661"/>
            <a:ext cx="4614949" cy="36703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200" dirty="0">
              <a:solidFill>
                <a:schemeClr val="tx1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E34C555-0740-A21E-908F-341DFB96FC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268" y="2462086"/>
            <a:ext cx="5510312" cy="301064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5C962E0-FBEC-A6CB-C946-242D8FA207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367" y="2462086"/>
            <a:ext cx="4614949" cy="303335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6844674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07BF14-48B4-018D-63EE-DF24A5A8CF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444DA4-C4B2-2A92-8A96-C527D8D02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2800" dirty="0"/>
              <a:t>PROGRAMMING LANGUAGE TRENDS - FINDINGS &amp; IMPLICATIONS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85DDBB-31B7-4F81-1E76-90009348F1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13816" y="1825625"/>
            <a:ext cx="5181600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Findings</a:t>
            </a:r>
          </a:p>
          <a:p>
            <a:endParaRPr lang="en-US" dirty="0"/>
          </a:p>
          <a:p>
            <a:r>
              <a:rPr lang="en-US" dirty="0"/>
              <a:t>SQL is the most popular language in both current and future trend.</a:t>
            </a:r>
          </a:p>
          <a:p>
            <a:r>
              <a:rPr lang="en-US" dirty="0"/>
              <a:t>SQL and Python are the most popular in future with 400K of respondent want to work with.</a:t>
            </a:r>
          </a:p>
          <a:p>
            <a:r>
              <a:rPr lang="en-US" dirty="0"/>
              <a:t>Current technology, PHP and PowerShell are the least popular language with 100 K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166E7F-5223-7C98-EBC0-E8FA35940F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Implications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The language of SQL dominate current and future technology area.</a:t>
            </a:r>
          </a:p>
          <a:p>
            <a:r>
              <a:rPr lang="en-US" dirty="0"/>
              <a:t>Python also plays crucial role in future trends.</a:t>
            </a:r>
          </a:p>
          <a:p>
            <a:r>
              <a:rPr lang="en-US" dirty="0"/>
              <a:t>PHP and PowerShell of current technology usage will be replacing Go and Rust language in the future.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012887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AA0F35-C02C-0C12-3664-049CAC5AFA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B430B-2D6C-26E3-5D00-4D061A250E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2584" y="428768"/>
            <a:ext cx="10515600" cy="1325563"/>
          </a:xfrm>
        </p:spPr>
        <p:txBody>
          <a:bodyPr/>
          <a:lstStyle/>
          <a:p>
            <a:r>
              <a:rPr lang="en-US" dirty="0"/>
              <a:t>DATABASE TRENDS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B3FA5-2985-EAFB-8885-6820D4058A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13816" y="1825625"/>
            <a:ext cx="2228642" cy="50193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Current Year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E0AA0B-A66B-F896-65D9-69DDA700D8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1758142" cy="50193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Next Year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C571D90-609D-2FD5-43F4-5CBD50D369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" y="2398857"/>
            <a:ext cx="4858040" cy="314055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A2DDD0E-D61D-CEED-0682-2FA605AA31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425255"/>
            <a:ext cx="4479235" cy="3165034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5028874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8A6A9C-70D0-119E-38BE-1738DA5AD3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797E2B-01DB-9C21-4CF2-1586AB1C3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85" y="365125"/>
            <a:ext cx="12094029" cy="1325563"/>
          </a:xfrm>
        </p:spPr>
        <p:txBody>
          <a:bodyPr/>
          <a:lstStyle/>
          <a:p>
            <a:r>
              <a:rPr lang="en-US" dirty="0"/>
              <a:t>DATABASE TRENDS - FINDINGS &amp; IMPLICATIONS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3EC42F-75A2-FA08-F2B6-EB2817BBF8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13816" y="1825625"/>
            <a:ext cx="5181600" cy="435133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Findings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PostgreSQL Database reach max 450 K respondents in current usage</a:t>
            </a:r>
          </a:p>
          <a:p>
            <a:r>
              <a:rPr lang="en-US" dirty="0"/>
              <a:t>Redis and Elasticsearch are the least </a:t>
            </a:r>
            <a:r>
              <a:rPr lang="en-US" dirty="0" err="1"/>
              <a:t>favourable</a:t>
            </a:r>
            <a:r>
              <a:rPr lang="en-US" dirty="0"/>
              <a:t> databases with below 100K current usage respectively</a:t>
            </a:r>
          </a:p>
          <a:p>
            <a:r>
              <a:rPr lang="en-US" dirty="0"/>
              <a:t>MySQL is the second most popular </a:t>
            </a:r>
            <a:r>
              <a:rPr lang="en-US" dirty="0" err="1"/>
              <a:t>dabase</a:t>
            </a:r>
            <a:r>
              <a:rPr lang="en-US" dirty="0"/>
              <a:t> with over 300K respondent currently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27B10A-E9C3-5B71-0345-782E28BDB3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Implications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In the future, different types of databases will be used widely</a:t>
            </a:r>
          </a:p>
          <a:p>
            <a:r>
              <a:rPr lang="en-US" dirty="0"/>
              <a:t>The oracle database will be replaced with </a:t>
            </a:r>
            <a:r>
              <a:rPr lang="en-US" dirty="0" err="1"/>
              <a:t>Supabase</a:t>
            </a:r>
            <a:r>
              <a:rPr lang="en-US" dirty="0"/>
              <a:t>.</a:t>
            </a:r>
          </a:p>
          <a:p>
            <a:r>
              <a:rPr lang="en-US" dirty="0"/>
              <a:t>Elasticsearch and </a:t>
            </a:r>
            <a:r>
              <a:rPr lang="en-US" dirty="0" err="1"/>
              <a:t>Dynamodb</a:t>
            </a:r>
            <a:r>
              <a:rPr lang="en-US" dirty="0"/>
              <a:t> will be the least famous in future trend.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881259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E8291F-E27C-74F8-33D3-FF131FC968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B7D73-872E-CFE8-1C38-8422F3838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DASHBOARD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C64183-B387-01E7-21BA-4DA6B1F51815}"/>
              </a:ext>
            </a:extLst>
          </p:cNvPr>
          <p:cNvSpPr txBox="1">
            <a:spLocks/>
          </p:cNvSpPr>
          <p:nvPr/>
        </p:nvSpPr>
        <p:spPr>
          <a:xfrm>
            <a:off x="4285075" y="3142210"/>
            <a:ext cx="7068725" cy="25692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sz="2200" dirty="0"/>
              <a:t>&lt;Please present your dashboard in the following slides.&gt;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79822F7-4A79-5E92-9C6D-8A9769182E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475" y="1901819"/>
            <a:ext cx="3054361" cy="305436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752198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8502E5D4-8185-73FA-5E28-D802594037EF}"/>
              </a:ext>
            </a:extLst>
          </p:cNvPr>
          <p:cNvSpPr txBox="1">
            <a:spLocks/>
          </p:cNvSpPr>
          <p:nvPr/>
        </p:nvSpPr>
        <p:spPr>
          <a:xfrm>
            <a:off x="990600" y="5175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rgbClr val="525252"/>
                </a:solidFill>
                <a:latin typeface="IBM Plex Sans SemiBold" panose="020B0503050203000203" pitchFamily="34" charset="0"/>
                <a:ea typeface="IBM Plex Sans SemiBold" panose="020B0503050203000203" pitchFamily="34" charset="0"/>
                <a:cs typeface="IBM Plex Sans SemiBold" panose="020B0503050203000203" pitchFamily="34" charset="0"/>
              </a:defRPr>
            </a:lvl1pPr>
          </a:lstStyle>
          <a:p>
            <a:r>
              <a:rPr lang="en-US"/>
              <a:t>DASHBOARD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6B5FD96-2FA7-590F-E1B7-99F57F6714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3343" y="1663761"/>
            <a:ext cx="8255000" cy="5010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29146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42F0CA-55D1-0835-20D4-03D017A1D5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93914-A678-A34E-C52A-16D0ADAA25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DASHBOARD TAB 1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5EC6D8B-4D94-0114-E60B-9005870EED7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2771360" y="1439517"/>
            <a:ext cx="6902727" cy="5054752"/>
          </a:xfr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4297367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18F23D-B8D7-D0E4-EDC5-E0F023884D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4F933A-3681-3D82-68EF-62EC07822D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DASHBOARD TAB 2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3F271A5B-B7C1-1871-EEBA-A0794681A9C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3024808" y="1446406"/>
            <a:ext cx="6583017" cy="5037613"/>
          </a:xfr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0484966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0A10D3-267F-7A90-5160-775BFEBCA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C0C82-5F1A-F7B1-2C56-5C08240C16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DASHBOARD TAB 3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892135B-F967-BC19-BFBA-DA8073F9B62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2932042" y="1423585"/>
            <a:ext cx="6649279" cy="5146890"/>
          </a:xfr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4056362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762C0A-56EF-B349-A097-27B4D460D1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98769-531F-C6A5-406F-D1C3D28059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DISCUSSION</a:t>
            </a:r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1F45ECC1-C956-CADF-DDFD-F54C6608E40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1253331" y="1825625"/>
            <a:ext cx="4351338" cy="4351338"/>
          </a:xfrm>
          <a:prstGeom prst="rect">
            <a:avLst/>
          </a:prstGeom>
          <a:noFill/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67EF50-003F-6BB0-4367-42BB884C77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The current popular programming languages, databases, web framework and platform can be visualized and interpreted from the Current Technology Usage.</a:t>
            </a:r>
          </a:p>
          <a:p>
            <a:r>
              <a:rPr lang="en-US" dirty="0"/>
              <a:t>The future trend of programming languages, databases, web framework and platform can be translated from the data visualization of Future Technology Trend Dashboard.</a:t>
            </a:r>
          </a:p>
          <a:p>
            <a:r>
              <a:rPr lang="en-US" dirty="0"/>
              <a:t>The Demographics Dashboard presents the demographics properties of respondents.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573335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F05330-0589-A550-601A-037CA416F6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A8902-AF46-DDE8-D792-7940E18AF6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OVERALL FINDINGS &amp; IMPLICATIONS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96B89C-35B9-C514-4E9C-FCBE8D68D3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13816" y="1825625"/>
            <a:ext cx="5181600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Findings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The most respondent age group is 25-34 years old approximately 41%</a:t>
            </a:r>
          </a:p>
          <a:p>
            <a:r>
              <a:rPr lang="en-US" dirty="0"/>
              <a:t>The Education of highest number of respondents are from college, about 15K</a:t>
            </a:r>
          </a:p>
          <a:p>
            <a:r>
              <a:rPr lang="en-US" dirty="0"/>
              <a:t>The intensity of respondents by country is USA around 3500 in number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DBBA5A-826D-FFFD-F1BE-92269842D3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Implications</a:t>
            </a:r>
          </a:p>
          <a:p>
            <a:pPr marL="0" indent="0">
              <a:buNone/>
            </a:pPr>
            <a:r>
              <a:rPr lang="en-US" dirty="0"/>
              <a:t>Most of the respondents are :-</a:t>
            </a:r>
          </a:p>
          <a:p>
            <a:r>
              <a:rPr lang="en-US" dirty="0"/>
              <a:t>Young Adults</a:t>
            </a:r>
          </a:p>
          <a:p>
            <a:r>
              <a:rPr lang="en-US" dirty="0"/>
              <a:t>College Students</a:t>
            </a:r>
          </a:p>
          <a:p>
            <a:r>
              <a:rPr lang="en-US" dirty="0"/>
              <a:t>From USA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656372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23A16F-6AB5-5C0B-5466-65B2A6AE81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5E978FF3-BC93-079A-1687-DD4786B81D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CONCLUSION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2E75918E-509D-16F8-F478-FA41759FEFE9}"/>
              </a:ext>
            </a:extLst>
          </p:cNvPr>
          <p:cNvSpPr txBox="1">
            <a:spLocks/>
          </p:cNvSpPr>
          <p:nvPr/>
        </p:nvSpPr>
        <p:spPr>
          <a:xfrm>
            <a:off x="4544291" y="1825625"/>
            <a:ext cx="6809509" cy="435133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According to the demographics of Dashboard, most of the respondents are young-adults college student from USA. </a:t>
            </a:r>
          </a:p>
          <a:p>
            <a:r>
              <a:rPr lang="en-US" dirty="0"/>
              <a:t>Although there is no visible change in current usage and future trend of programming language, SQL and Python are still robust and crucial languages in the future trend.</a:t>
            </a:r>
          </a:p>
          <a:p>
            <a:r>
              <a:rPr lang="en-US" dirty="0"/>
              <a:t>It is clearly seen that there will be more dynamic usage in databases in the future.</a:t>
            </a:r>
          </a:p>
          <a:p>
            <a:r>
              <a:rPr lang="en-US" dirty="0"/>
              <a:t>AWS platform will be more popular than current Google Cloud and Microsoft Azure usage.</a:t>
            </a:r>
          </a:p>
        </p:txBody>
      </p:sp>
      <p:pic>
        <p:nvPicPr>
          <p:cNvPr id="13" name="Content Placeholder 5">
            <a:extLst>
              <a:ext uri="{FF2B5EF4-FFF2-40B4-BE49-F238E27FC236}">
                <a16:creationId xmlns:a16="http://schemas.microsoft.com/office/drawing/2014/main" id="{CD985AE9-0D12-3398-B9B7-4395CABF170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1125967" y="2113896"/>
            <a:ext cx="3054361" cy="305436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8403782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D1598F-DBE3-7B78-D1F9-0BA7F7DC7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34A3B939-6057-23B6-25B3-E33A2D205C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APPENDIX</a:t>
            </a:r>
          </a:p>
        </p:txBody>
      </p:sp>
      <p:pic>
        <p:nvPicPr>
          <p:cNvPr id="11" name="Content Placeholder 3">
            <a:extLst>
              <a:ext uri="{FF2B5EF4-FFF2-40B4-BE49-F238E27FC236}">
                <a16:creationId xmlns:a16="http://schemas.microsoft.com/office/drawing/2014/main" id="{E8E550E5-7A15-A106-D083-8C1433A790A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1055857" y="1849823"/>
            <a:ext cx="3194581" cy="3194581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60166B5-8ACB-A1BD-240D-92BFEB9B200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4603" t="46284" r="30768" b="7432"/>
          <a:stretch>
            <a:fillRect/>
          </a:stretch>
        </p:blipFill>
        <p:spPr>
          <a:xfrm>
            <a:off x="5100589" y="4946353"/>
            <a:ext cx="2652545" cy="154652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ED44CA7-456B-50F8-1D15-8635B2E1114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3382" t="27650" r="3846" b="14586"/>
          <a:stretch>
            <a:fillRect/>
          </a:stretch>
        </p:blipFill>
        <p:spPr>
          <a:xfrm>
            <a:off x="4051990" y="1723303"/>
            <a:ext cx="4325257" cy="193010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CA4E441-D3DB-DE7E-EE91-29386E77539A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7447" t="37133" r="61713" b="9150"/>
          <a:stretch>
            <a:fillRect/>
          </a:stretch>
        </p:blipFill>
        <p:spPr>
          <a:xfrm>
            <a:off x="8143119" y="3774681"/>
            <a:ext cx="2993024" cy="293064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310D8B6-44E2-F189-E770-D869F836262D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20696" t="46417" r="31929" b="7299"/>
          <a:stretch>
            <a:fillRect/>
          </a:stretch>
        </p:blipFill>
        <p:spPr>
          <a:xfrm>
            <a:off x="1894833" y="4946354"/>
            <a:ext cx="2815771" cy="154652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78C3416-399B-F70D-02C8-F9D486A0441C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26886" t="36317" r="18620" b="15338"/>
          <a:stretch>
            <a:fillRect/>
          </a:stretch>
        </p:blipFill>
        <p:spPr>
          <a:xfrm>
            <a:off x="8377247" y="1536100"/>
            <a:ext cx="3238934" cy="161540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8601586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FC4E31-32FC-4A23-CEF9-98F0BB9F1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8334EF5D-2E2A-7FE5-06C6-01ACAB1F42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248" y="383051"/>
            <a:ext cx="5929053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 JOB POSTINGS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3F79416-0AFB-FC80-07E8-3CF2B4E7E798}"/>
              </a:ext>
            </a:extLst>
          </p:cNvPr>
          <p:cNvSpPr txBox="1">
            <a:spLocks/>
          </p:cNvSpPr>
          <p:nvPr/>
        </p:nvSpPr>
        <p:spPr>
          <a:xfrm>
            <a:off x="851362" y="1486847"/>
            <a:ext cx="10489276" cy="28627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sz="2200" dirty="0"/>
              <a:t>In Module 1 you have collected the job posting data using Job API in a file named “</a:t>
            </a:r>
            <a:r>
              <a:rPr lang="en-IN" sz="2400" dirty="0"/>
              <a:t>job-postings.xlsx</a:t>
            </a:r>
            <a:r>
              <a:rPr lang="en-US" sz="2200" dirty="0"/>
              <a:t>”. Present that data using a bar chart here. Order the bar chart in the descending order of the number of job postings.</a:t>
            </a:r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48D98C2C-B03D-B2B9-24EE-ACA7270A8C6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17125942"/>
              </p:ext>
            </p:extLst>
          </p:nvPr>
        </p:nvGraphicFramePr>
        <p:xfrm>
          <a:off x="95249" y="2579074"/>
          <a:ext cx="6000750" cy="2119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6000636" imgH="2105194" progId="Excel.Sheet.12">
                  <p:embed/>
                </p:oleObj>
              </mc:Choice>
              <mc:Fallback>
                <p:oleObj name="Worksheet" r:id="rId3" imgW="6000636" imgH="2105194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5249" y="2579074"/>
                        <a:ext cx="6000750" cy="21193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6FD6BC17-86EE-7B44-D244-FE817EADBB4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70202664"/>
              </p:ext>
            </p:extLst>
          </p:nvPr>
        </p:nvGraphicFramePr>
        <p:xfrm>
          <a:off x="6576524" y="2402174"/>
          <a:ext cx="4555331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19353738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6DB558-7141-B0CE-D399-712C1073BF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12CF5900-71B3-70B0-7CF1-4A1C535AD0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248" y="383051"/>
            <a:ext cx="5929053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POPULAR LANGUAGES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5B1AABA-34AF-B1F5-3C7F-11AEB9E03637}"/>
              </a:ext>
            </a:extLst>
          </p:cNvPr>
          <p:cNvSpPr txBox="1">
            <a:spLocks/>
          </p:cNvSpPr>
          <p:nvPr/>
        </p:nvSpPr>
        <p:spPr>
          <a:xfrm>
            <a:off x="833314" y="1701568"/>
            <a:ext cx="10525371" cy="28627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sz="2200" dirty="0"/>
              <a:t>In Module 1 you have collected the job postings data using web scraping in a file named “</a:t>
            </a:r>
            <a:r>
              <a:rPr lang="en-IN" sz="2400" dirty="0"/>
              <a:t>popular-languages.csv</a:t>
            </a:r>
            <a:r>
              <a:rPr lang="en-US" sz="2200" dirty="0"/>
              <a:t>”. Present that data using a bar chart here. Order the bar chart in the descending order of salary.</a:t>
            </a:r>
          </a:p>
        </p:txBody>
      </p:sp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FFC92003-A8FF-D765-836B-CC079CCCAF9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25282627"/>
              </p:ext>
            </p:extLst>
          </p:nvPr>
        </p:nvGraphicFramePr>
        <p:xfrm>
          <a:off x="1214437" y="3602462"/>
          <a:ext cx="1228725" cy="2105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3" imgW="1228873" imgH="2105194" progId="Excel.SheetMacroEnabled.12">
                  <p:link updateAutomatic="1"/>
                </p:oleObj>
              </mc:Choice>
              <mc:Fallback>
                <p:oleObj name="Macro-Enabled Worksheet" r:id="rId3" imgW="1228873" imgH="2105194" progId="Excel.SheetMacroEnabled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214437" y="3602462"/>
                        <a:ext cx="1228725" cy="21050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6E3F0340-E060-A3C2-25A8-E1E763ECB35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97685641"/>
              </p:ext>
            </p:extLst>
          </p:nvPr>
        </p:nvGraphicFramePr>
        <p:xfrm>
          <a:off x="2779294" y="3132945"/>
          <a:ext cx="8373388" cy="33420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194590253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COUNT" val="18"/>
  <p:tag name="ARTICULATE_DESIGN_ID_SLIDE_TEMPLATE_SKILL_NETWORK" val="762xjmeN"/>
  <p:tag name="ARTICULATE_DESIGN_ID_IBM DEVELOPER 2018 WHITE BACKGROUND" val="AcyDFp8V"/>
  <p:tag name="ARTICULATE_SLIDE_THUMBNAIL_REFRESH" val="1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SLIDE_TEMPLATE_skill_network">
  <a:themeElements>
    <a:clrScheme name="IBM Skills Network">
      <a:dk1>
        <a:srgbClr val="262626"/>
      </a:dk1>
      <a:lt1>
        <a:srgbClr val="525252"/>
      </a:lt1>
      <a:dk2>
        <a:srgbClr val="FFFFFF"/>
      </a:dk2>
      <a:lt2>
        <a:srgbClr val="FFFFFF"/>
      </a:lt2>
      <a:accent1>
        <a:srgbClr val="6C4DEA"/>
      </a:accent1>
      <a:accent2>
        <a:srgbClr val="82CFFF"/>
      </a:accent2>
      <a:accent3>
        <a:srgbClr val="FF7EB6"/>
      </a:accent3>
      <a:accent4>
        <a:srgbClr val="3DDBD9"/>
      </a:accent4>
      <a:accent5>
        <a:srgbClr val="5B9BD5"/>
      </a:accent5>
      <a:accent6>
        <a:srgbClr val="525252"/>
      </a:accent6>
      <a:hlink>
        <a:srgbClr val="C1C7CD"/>
      </a:hlink>
      <a:folHlink>
        <a:srgbClr val="DA1E28"/>
      </a:folHlink>
    </a:clrScheme>
    <a:fontScheme name="IBM Skills Network">
      <a:majorFont>
        <a:latin typeface="IBM Plex Sans SemiBold"/>
        <a:ea typeface=""/>
        <a:cs typeface=""/>
      </a:majorFont>
      <a:minorFont>
        <a:latin typeface="IBM Plex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BM Skills Network PPT Template 01.2023.pptx" id="{565886F7-76CC-4370-877F-2511E1EB1B28}" vid="{AD061E48-3596-4052-9172-46F1919207B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ECD86F56755A646AC8AFCBCBD967F21" ma:contentTypeVersion="19" ma:contentTypeDescription="Create a new document." ma:contentTypeScope="" ma:versionID="d7279d4efbac013e02c1e816bc7f7c13">
  <xsd:schema xmlns:xsd="http://www.w3.org/2001/XMLSchema" xmlns:xs="http://www.w3.org/2001/XMLSchema" xmlns:p="http://schemas.microsoft.com/office/2006/metadata/properties" xmlns:ns2="155be751-a274-42e8-93fb-f39d3b9bccc8" xmlns:ns3="f80a141d-92ca-4d3d-9308-f7e7b1d44ce8" targetNamespace="http://schemas.microsoft.com/office/2006/metadata/properties" ma:root="true" ma:fieldsID="0a3fd1dbe83fc08387abb87098562ef0" ns2:_="" ns3:_="">
    <xsd:import namespace="155be751-a274-42e8-93fb-f39d3b9bccc8"/>
    <xsd:import namespace="f80a141d-92ca-4d3d-9308-f7e7b1d44ce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AWBlink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55be751-a274-42e8-93fb-f39d3b9bccc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1bfc8dc1-ab14-4a6b-8a4a-9f7f0b948a9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AWBlink" ma:index="25" nillable="true" ma:displayName="AWB link" ma:description="Author Workbench link" ma:format="Dropdown" ma:internalName="AWBlink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80a141d-92ca-4d3d-9308-f7e7b1d44ce8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02edd55d-11a0-43df-8094-42adcb6055ca}" ma:internalName="TaxCatchAll" ma:showField="CatchAllData" ma:web="f80a141d-92ca-4d3d-9308-f7e7b1d44ce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55be751-a274-42e8-93fb-f39d3b9bccc8">
      <Terms xmlns="http://schemas.microsoft.com/office/infopath/2007/PartnerControls"/>
    </lcf76f155ced4ddcb4097134ff3c332f>
    <TaxCatchAll xmlns="f80a141d-92ca-4d3d-9308-f7e7b1d44ce8" xsi:nil="true"/>
    <AWBlink xmlns="155be751-a274-42e8-93fb-f39d3b9bccc8" xsi:nil="true"/>
  </documentManagement>
</p:properties>
</file>

<file path=customXml/itemProps1.xml><?xml version="1.0" encoding="utf-8"?>
<ds:datastoreItem xmlns:ds="http://schemas.openxmlformats.org/officeDocument/2006/customXml" ds:itemID="{BEAB06F8-DBB4-44C7-AF84-8B098C8B039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55be751-a274-42e8-93fb-f39d3b9bccc8"/>
    <ds:schemaRef ds:uri="f80a141d-92ca-4d3d-9308-f7e7b1d44ce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EFDA260-DDA0-422C-B7AE-778F653FBB3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4DA07C5-A406-4A0D-B3E6-3856C94AC7F3}">
  <ds:schemaRefs>
    <ds:schemaRef ds:uri="155be751-a274-42e8-93fb-f39d3b9bccc8"/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f80a141d-92ca-4d3d-9308-f7e7b1d44ce8"/>
    <ds:schemaRef ds:uri="http://www.w3.org/XML/1998/namespace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IBM PPT Temp Jan 2023</Template>
  <TotalTime>345</TotalTime>
  <Words>961</Words>
  <Application>Microsoft Office PowerPoint</Application>
  <PresentationFormat>Widescreen</PresentationFormat>
  <Paragraphs>103</Paragraphs>
  <Slides>20</Slides>
  <Notes>1</Notes>
  <HiddenSlides>0</HiddenSlides>
  <MMClips>0</MMClips>
  <ScaleCrop>false</ScaleCrop>
  <HeadingPairs>
    <vt:vector size="10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Links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9" baseType="lpstr">
      <vt:lpstr>Arial</vt:lpstr>
      <vt:lpstr>Calibri</vt:lpstr>
      <vt:lpstr>Helv</vt:lpstr>
      <vt:lpstr>IBM Plex Mono</vt:lpstr>
      <vt:lpstr>IBM Plex Sans</vt:lpstr>
      <vt:lpstr>IBM Plex Sans SemiBold</vt:lpstr>
      <vt:lpstr>SLIDE_TEMPLATE_skill_network</vt:lpstr>
      <vt:lpstr>file:///D:\NPower\Course%209\Assignment%20Submission\M1_WebScraping\popular-languages.csv</vt:lpstr>
      <vt:lpstr>Worksheet</vt:lpstr>
      <vt:lpstr>IBM Data Analyst Capstone Project</vt:lpstr>
      <vt:lpstr>PowerPoint Presentation</vt:lpstr>
      <vt:lpstr>EXECUTIVE SUMMARY</vt:lpstr>
      <vt:lpstr>INTRODUCTION</vt:lpstr>
      <vt:lpstr>METHODOLOGY</vt:lpstr>
      <vt:lpstr>PROGRAMMING LANGUAGE TRENDS</vt:lpstr>
      <vt:lpstr>PROGRAMMING LANGUAGE TRENDS - FINDINGS &amp; IMPLICATIONS</vt:lpstr>
      <vt:lpstr>DATABASE TRENDS</vt:lpstr>
      <vt:lpstr>DATABASE TRENDS - FINDINGS &amp; IMPLICATIONS</vt:lpstr>
      <vt:lpstr>DASHBOARD</vt:lpstr>
      <vt:lpstr>PowerPoint Presentation</vt:lpstr>
      <vt:lpstr>DASHBOARD TAB 1</vt:lpstr>
      <vt:lpstr>DASHBOARD TAB 2</vt:lpstr>
      <vt:lpstr>DASHBOARD TAB 3</vt:lpstr>
      <vt:lpstr>DISCUSSION</vt:lpstr>
      <vt:lpstr>OVERALL FINDINGS &amp; IMPLICATIONS</vt:lpstr>
      <vt:lpstr>CONCLUSION</vt:lpstr>
      <vt:lpstr>APPENDIX</vt:lpstr>
      <vt:lpstr> JOB POSTINGS</vt:lpstr>
      <vt:lpstr>POPULAR LANGUAGES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Tori Sleeper</dc:creator>
  <cp:lastModifiedBy>Cherry Maung</cp:lastModifiedBy>
  <cp:revision>23</cp:revision>
  <dcterms:created xsi:type="dcterms:W3CDTF">2024-10-30T05:40:03Z</dcterms:created>
  <dcterms:modified xsi:type="dcterms:W3CDTF">2026-01-23T17:42:36Z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0x010100EECD86F56755A646AC8AFCBCBD967F21</vt:lpwstr>
  </property>
  <property fmtid="{D5CDD505-2E9C-101B-9397-08002B2CF9AE}" pid="3" name="MediaServiceImageTags">
    <vt:lpwstr/>
  </property>
  <property fmtid="{D5CDD505-2E9C-101B-9397-08002B2CF9AE}" pid="4" name="ArticulateGUID">
    <vt:lpwstr>07C438A6-8092-445C-AC0D-AE1422093206</vt:lpwstr>
  </property>
  <property fmtid="{D5CDD505-2E9C-101B-9397-08002B2CF9AE}" pid="5" name="ArticulatePath">
    <vt:lpwstr>https://skilluptech.sharepoint.com/sites/Coursera/Shared Documents/General/PPT template/IBM Skills Network PPT Template 01.2023</vt:lpwstr>
  </property>
</Properties>
</file>